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jxgbYjccChfboh+PxKghejRKdf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1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277F1-729D-4533-9937-95B36D51CB5B}" v="2" dt="2026-08-06T07:05:58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zza Maira" userId="d0a25a6f-4008-4c86-8740-27856525f3e1" providerId="ADAL" clId="{A44FACB3-3A32-418A-B1D8-F602B668736A}"/>
    <pc:docChg chg="undo custSel addSld modSld">
      <pc:chgData name="Fizza Maira" userId="d0a25a6f-4008-4c86-8740-27856525f3e1" providerId="ADAL" clId="{A44FACB3-3A32-418A-B1D8-F602B668736A}" dt="2026-08-06T07:13:10.115" v="595" actId="1076"/>
      <pc:docMkLst>
        <pc:docMk/>
      </pc:docMkLst>
      <pc:sldChg chg="modSp mod">
        <pc:chgData name="Fizza Maira" userId="d0a25a6f-4008-4c86-8740-27856525f3e1" providerId="ADAL" clId="{A44FACB3-3A32-418A-B1D8-F602B668736A}" dt="2026-08-06T06:56:31.796" v="66" actId="207"/>
        <pc:sldMkLst>
          <pc:docMk/>
          <pc:sldMk cId="0" sldId="256"/>
        </pc:sldMkLst>
        <pc:spChg chg="mod">
          <ac:chgData name="Fizza Maira" userId="d0a25a6f-4008-4c86-8740-27856525f3e1" providerId="ADAL" clId="{A44FACB3-3A32-418A-B1D8-F602B668736A}" dt="2026-08-06T06:56:31.796" v="66" actId="207"/>
          <ac:spMkLst>
            <pc:docMk/>
            <pc:sldMk cId="0" sldId="256"/>
            <ac:spMk id="94" creationId="{00000000-0000-0000-0000-000000000000}"/>
          </ac:spMkLst>
        </pc:spChg>
      </pc:sldChg>
      <pc:sldChg chg="addSp delSp modSp mod">
        <pc:chgData name="Fizza Maira" userId="d0a25a6f-4008-4c86-8740-27856525f3e1" providerId="ADAL" clId="{A44FACB3-3A32-418A-B1D8-F602B668736A}" dt="2026-08-06T06:59:42.372" v="125" actId="1036"/>
        <pc:sldMkLst>
          <pc:docMk/>
          <pc:sldMk cId="0" sldId="257"/>
        </pc:sldMkLst>
        <pc:spChg chg="add mod">
          <ac:chgData name="Fizza Maira" userId="d0a25a6f-4008-4c86-8740-27856525f3e1" providerId="ADAL" clId="{A44FACB3-3A32-418A-B1D8-F602B668736A}" dt="2026-08-06T06:56:48.518" v="69" actId="122"/>
          <ac:spMkLst>
            <pc:docMk/>
            <pc:sldMk cId="0" sldId="257"/>
            <ac:spMk id="3" creationId="{6E5FE501-52FC-9663-175F-EE814939F785}"/>
          </ac:spMkLst>
        </pc:spChg>
        <pc:spChg chg="add mod">
          <ac:chgData name="Fizza Maira" userId="d0a25a6f-4008-4c86-8740-27856525f3e1" providerId="ADAL" clId="{A44FACB3-3A32-418A-B1D8-F602B668736A}" dt="2026-08-06T06:59:42.372" v="125" actId="1036"/>
          <ac:spMkLst>
            <pc:docMk/>
            <pc:sldMk cId="0" sldId="257"/>
            <ac:spMk id="5" creationId="{F18859DA-4EBF-86FB-39DA-CC40AEFAA531}"/>
          </ac:spMkLst>
        </pc:spChg>
        <pc:spChg chg="add del mod">
          <ac:chgData name="Fizza Maira" userId="d0a25a6f-4008-4c86-8740-27856525f3e1" providerId="ADAL" clId="{A44FACB3-3A32-418A-B1D8-F602B668736A}" dt="2026-08-06T06:56:56.706" v="71" actId="478"/>
          <ac:spMkLst>
            <pc:docMk/>
            <pc:sldMk cId="0" sldId="257"/>
            <ac:spMk id="7" creationId="{47ACB267-F7CA-D45F-F1B9-E208296EE326}"/>
          </ac:spMkLst>
        </pc:spChg>
        <pc:spChg chg="add del mod">
          <ac:chgData name="Fizza Maira" userId="d0a25a6f-4008-4c86-8740-27856525f3e1" providerId="ADAL" clId="{A44FACB3-3A32-418A-B1D8-F602B668736A}" dt="2026-08-06T06:56:52.400" v="70" actId="478"/>
          <ac:spMkLst>
            <pc:docMk/>
            <pc:sldMk cId="0" sldId="257"/>
            <ac:spMk id="9" creationId="{8C2CC35A-C1C4-C9E7-86A2-232A1BAC361B}"/>
          </ac:spMkLst>
        </pc:spChg>
      </pc:sldChg>
      <pc:sldChg chg="addSp delSp modSp mod">
        <pc:chgData name="Fizza Maira" userId="d0a25a6f-4008-4c86-8740-27856525f3e1" providerId="ADAL" clId="{A44FACB3-3A32-418A-B1D8-F602B668736A}" dt="2026-08-06T07:07:56.465" v="389" actId="1035"/>
        <pc:sldMkLst>
          <pc:docMk/>
          <pc:sldMk cId="0" sldId="258"/>
        </pc:sldMkLst>
        <pc:spChg chg="add mod">
          <ac:chgData name="Fizza Maira" userId="d0a25a6f-4008-4c86-8740-27856525f3e1" providerId="ADAL" clId="{A44FACB3-3A32-418A-B1D8-F602B668736A}" dt="2026-08-06T07:07:56.465" v="389" actId="1035"/>
          <ac:spMkLst>
            <pc:docMk/>
            <pc:sldMk cId="0" sldId="258"/>
            <ac:spMk id="3" creationId="{9809ED82-7865-1E75-8005-E3EE187972A9}"/>
          </ac:spMkLst>
        </pc:spChg>
        <pc:spChg chg="add del">
          <ac:chgData name="Fizza Maira" userId="d0a25a6f-4008-4c86-8740-27856525f3e1" providerId="ADAL" clId="{A44FACB3-3A32-418A-B1D8-F602B668736A}" dt="2026-08-06T06:57:33.761" v="75" actId="22"/>
          <ac:spMkLst>
            <pc:docMk/>
            <pc:sldMk cId="0" sldId="258"/>
            <ac:spMk id="5" creationId="{8F03CF5C-94F2-6975-E3F3-1B4B69AD5D5D}"/>
          </ac:spMkLst>
        </pc:spChg>
        <pc:spChg chg="add del mod">
          <ac:chgData name="Fizza Maira" userId="d0a25a6f-4008-4c86-8740-27856525f3e1" providerId="ADAL" clId="{A44FACB3-3A32-418A-B1D8-F602B668736A}" dt="2026-08-06T06:58:06.206" v="84" actId="21"/>
          <ac:spMkLst>
            <pc:docMk/>
            <pc:sldMk cId="0" sldId="258"/>
            <ac:spMk id="7" creationId="{22D905D9-AAC5-3957-E29C-1F3E78727844}"/>
          </ac:spMkLst>
        </pc:spChg>
        <pc:spChg chg="add mod">
          <ac:chgData name="Fizza Maira" userId="d0a25a6f-4008-4c86-8740-27856525f3e1" providerId="ADAL" clId="{A44FACB3-3A32-418A-B1D8-F602B668736A}" dt="2026-08-06T07:07:18.056" v="299" actId="12788"/>
          <ac:spMkLst>
            <pc:docMk/>
            <pc:sldMk cId="0" sldId="258"/>
            <ac:spMk id="9" creationId="{73F3F64E-BE4D-D3DF-57D5-BF67AE1E9EDD}"/>
          </ac:spMkLst>
        </pc:spChg>
      </pc:sldChg>
      <pc:sldChg chg="addSp modSp new mod">
        <pc:chgData name="Fizza Maira" userId="d0a25a6f-4008-4c86-8740-27856525f3e1" providerId="ADAL" clId="{A44FACB3-3A32-418A-B1D8-F602B668736A}" dt="2026-08-06T07:08:22.098" v="420" actId="1035"/>
        <pc:sldMkLst>
          <pc:docMk/>
          <pc:sldMk cId="3289224814" sldId="259"/>
        </pc:sldMkLst>
        <pc:spChg chg="add mod">
          <ac:chgData name="Fizza Maira" userId="d0a25a6f-4008-4c86-8740-27856525f3e1" providerId="ADAL" clId="{A44FACB3-3A32-418A-B1D8-F602B668736A}" dt="2026-08-06T07:08:22.098" v="420" actId="1035"/>
          <ac:spMkLst>
            <pc:docMk/>
            <pc:sldMk cId="3289224814" sldId="259"/>
            <ac:spMk id="3" creationId="{31AE4673-2310-7768-CAFE-C71E228846A7}"/>
          </ac:spMkLst>
        </pc:spChg>
        <pc:spChg chg="add mod">
          <ac:chgData name="Fizza Maira" userId="d0a25a6f-4008-4c86-8740-27856525f3e1" providerId="ADAL" clId="{A44FACB3-3A32-418A-B1D8-F602B668736A}" dt="2026-08-06T07:07:48.107" v="348" actId="20577"/>
          <ac:spMkLst>
            <pc:docMk/>
            <pc:sldMk cId="3289224814" sldId="259"/>
            <ac:spMk id="5" creationId="{98CF4003-6B2E-87CF-2817-76889C6135B4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0:21.214" v="482"/>
        <pc:sldMkLst>
          <pc:docMk/>
          <pc:sldMk cId="3987153470" sldId="260"/>
        </pc:sldMkLst>
        <pc:spChg chg="add mod">
          <ac:chgData name="Fizza Maira" userId="d0a25a6f-4008-4c86-8740-27856525f3e1" providerId="ADAL" clId="{A44FACB3-3A32-418A-B1D8-F602B668736A}" dt="2026-08-06T07:09:54.338" v="481" actId="1076"/>
          <ac:spMkLst>
            <pc:docMk/>
            <pc:sldMk cId="3987153470" sldId="260"/>
            <ac:spMk id="3" creationId="{FBE09B85-CBAA-6E41-F9C1-5D0C62D32631}"/>
          </ac:spMkLst>
        </pc:spChg>
        <pc:spChg chg="add mod">
          <ac:chgData name="Fizza Maira" userId="d0a25a6f-4008-4c86-8740-27856525f3e1" providerId="ADAL" clId="{A44FACB3-3A32-418A-B1D8-F602B668736A}" dt="2026-08-06T07:10:21.214" v="482"/>
          <ac:spMkLst>
            <pc:docMk/>
            <pc:sldMk cId="3987153470" sldId="260"/>
            <ac:spMk id="5" creationId="{E2D08B99-26E8-96E3-B453-DEED97ED3C1F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1:25.705" v="519" actId="1076"/>
        <pc:sldMkLst>
          <pc:docMk/>
          <pc:sldMk cId="684907484" sldId="261"/>
        </pc:sldMkLst>
        <pc:spChg chg="add mod">
          <ac:chgData name="Fizza Maira" userId="d0a25a6f-4008-4c86-8740-27856525f3e1" providerId="ADAL" clId="{A44FACB3-3A32-418A-B1D8-F602B668736A}" dt="2026-08-06T07:11:25.705" v="519" actId="1076"/>
          <ac:spMkLst>
            <pc:docMk/>
            <pc:sldMk cId="684907484" sldId="261"/>
            <ac:spMk id="3" creationId="{F6631922-EDA2-CA93-9A0A-C814D5C410DE}"/>
          </ac:spMkLst>
        </pc:spChg>
        <pc:spChg chg="add mod">
          <ac:chgData name="Fizza Maira" userId="d0a25a6f-4008-4c86-8740-27856525f3e1" providerId="ADAL" clId="{A44FACB3-3A32-418A-B1D8-F602B668736A}" dt="2026-08-06T07:10:54.305" v="515"/>
          <ac:spMkLst>
            <pc:docMk/>
            <pc:sldMk cId="684907484" sldId="261"/>
            <ac:spMk id="5" creationId="{BC92D5CD-CEED-CAF9-8E1C-650675A313C3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2:09.100" v="557" actId="1076"/>
        <pc:sldMkLst>
          <pc:docMk/>
          <pc:sldMk cId="2040043498" sldId="262"/>
        </pc:sldMkLst>
        <pc:spChg chg="add mod">
          <ac:chgData name="Fizza Maira" userId="d0a25a6f-4008-4c86-8740-27856525f3e1" providerId="ADAL" clId="{A44FACB3-3A32-418A-B1D8-F602B668736A}" dt="2026-08-06T07:12:09.100" v="557" actId="1076"/>
          <ac:spMkLst>
            <pc:docMk/>
            <pc:sldMk cId="2040043498" sldId="262"/>
            <ac:spMk id="3" creationId="{158013A2-70CA-8E35-F3F3-F40CD428166B}"/>
          </ac:spMkLst>
        </pc:spChg>
        <pc:spChg chg="add mod">
          <ac:chgData name="Fizza Maira" userId="d0a25a6f-4008-4c86-8740-27856525f3e1" providerId="ADAL" clId="{A44FACB3-3A32-418A-B1D8-F602B668736A}" dt="2026-08-06T07:11:53.354" v="555"/>
          <ac:spMkLst>
            <pc:docMk/>
            <pc:sldMk cId="2040043498" sldId="262"/>
            <ac:spMk id="5" creationId="{688822D8-D529-2998-D46B-41BB9F87B091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3:10.115" v="595" actId="1076"/>
        <pc:sldMkLst>
          <pc:docMk/>
          <pc:sldMk cId="3937486198" sldId="263"/>
        </pc:sldMkLst>
        <pc:spChg chg="add mod">
          <ac:chgData name="Fizza Maira" userId="d0a25a6f-4008-4c86-8740-27856525f3e1" providerId="ADAL" clId="{A44FACB3-3A32-418A-B1D8-F602B668736A}" dt="2026-08-06T07:13:10.115" v="595" actId="1076"/>
          <ac:spMkLst>
            <pc:docMk/>
            <pc:sldMk cId="3937486198" sldId="263"/>
            <ac:spMk id="3" creationId="{460254CD-0903-966C-40EF-C5EBA490158C}"/>
          </ac:spMkLst>
        </pc:spChg>
        <pc:spChg chg="add mod">
          <ac:chgData name="Fizza Maira" userId="d0a25a6f-4008-4c86-8740-27856525f3e1" providerId="ADAL" clId="{A44FACB3-3A32-418A-B1D8-F602B668736A}" dt="2026-08-06T07:12:49.659" v="592"/>
          <ac:spMkLst>
            <pc:docMk/>
            <pc:sldMk cId="3937486198" sldId="263"/>
            <ac:spMk id="5" creationId="{7FE4D497-87C5-39D6-FAF0-4FE272E0EB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19600"/>
            <a:ext cx="12192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30830" y="3686830"/>
            <a:ext cx="1905000" cy="522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7369" y="6362197"/>
            <a:ext cx="960461" cy="3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5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Blank">
  <p:cSld name="7_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3976469" y="2607021"/>
            <a:ext cx="4239062" cy="164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5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261257" y="5321712"/>
            <a:ext cx="10896599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r>
              <a:rPr lang="en-IN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Design Review Presentation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291078" y="1298425"/>
            <a:ext cx="1160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93FDCE-B9A8-B90C-2283-B7D99D89928F}"/>
              </a:ext>
            </a:extLst>
          </p:cNvPr>
          <p:cNvSpPr/>
          <p:nvPr/>
        </p:nvSpPr>
        <p:spPr>
          <a:xfrm>
            <a:off x="482600" y="1054100"/>
            <a:ext cx="11226800" cy="38100"/>
          </a:xfrm>
          <a:prstGeom prst="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FCAF5-E97D-CF84-71D0-7B6739F08548}"/>
              </a:ext>
            </a:extLst>
          </p:cNvPr>
          <p:cNvSpPr txBox="1"/>
          <p:nvPr/>
        </p:nvSpPr>
        <p:spPr>
          <a:xfrm>
            <a:off x="3175000" y="147147"/>
            <a:ext cx="5842000" cy="512961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Project Overview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1BB61A-EE1C-F766-3A62-DC13DF8E2772}"/>
              </a:ext>
            </a:extLst>
          </p:cNvPr>
          <p:cNvSpPr/>
          <p:nvPr/>
        </p:nvSpPr>
        <p:spPr>
          <a:xfrm>
            <a:off x="609600" y="1422400"/>
            <a:ext cx="3505200" cy="1549400"/>
          </a:xfrm>
          <a:prstGeom prst="roundRect">
            <a:avLst/>
          </a:prstGeom>
          <a:solidFill>
            <a:srgbClr val="EAF3F7"/>
          </a:solidFill>
          <a:ln w="15240">
            <a:solidFill>
              <a:srgbClr val="31657C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090E79-107F-1342-D677-1E889A7E4B0F}"/>
              </a:ext>
            </a:extLst>
          </p:cNvPr>
          <p:cNvSpPr/>
          <p:nvPr/>
        </p:nvSpPr>
        <p:spPr>
          <a:xfrm>
            <a:off x="838200" y="1600200"/>
            <a:ext cx="1422400" cy="304800"/>
          </a:xfrm>
          <a:prstGeom prst="roundRect">
            <a:avLst/>
          </a:prstGeom>
          <a:solidFill>
            <a:srgbClr val="3165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CORPUS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96CD1-1A05-DF72-8DFC-C2104A4A6E1D}"/>
              </a:ext>
            </a:extLst>
          </p:cNvPr>
          <p:cNvSpPr txBox="1"/>
          <p:nvPr/>
        </p:nvSpPr>
        <p:spPr>
          <a:xfrm>
            <a:off x="838200" y="1950547"/>
            <a:ext cx="30480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2300" b="1">
                <a:solidFill>
                  <a:srgbClr val="2A3E4A"/>
                </a:solidFill>
                <a:latin typeface="Aptos" panose="020B0004020202020204" pitchFamily="34" charset="0"/>
              </a:rPr>
              <a:t>153 PDFs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F4BFF5-63A9-97B7-DD18-FE2C042123F6}"/>
              </a:ext>
            </a:extLst>
          </p:cNvPr>
          <p:cNvSpPr txBox="1"/>
          <p:nvPr/>
        </p:nvSpPr>
        <p:spPr>
          <a:xfrm>
            <a:off x="838200" y="2407747"/>
            <a:ext cx="3048000" cy="32829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626C74"/>
                </a:solidFill>
                <a:latin typeface="Aptos" panose="020B0004020202020204" pitchFamily="34" charset="0"/>
              </a:rPr>
              <a:t>6,105 extracted pages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DCB8C0-2231-EBA4-5913-26D9CF84D32D}"/>
              </a:ext>
            </a:extLst>
          </p:cNvPr>
          <p:cNvSpPr/>
          <p:nvPr/>
        </p:nvSpPr>
        <p:spPr>
          <a:xfrm>
            <a:off x="4343400" y="1422400"/>
            <a:ext cx="3505200" cy="1549400"/>
          </a:xfrm>
          <a:prstGeom prst="roundRect">
            <a:avLst/>
          </a:prstGeom>
          <a:solidFill>
            <a:srgbClr val="FAECF0"/>
          </a:solidFill>
          <a:ln w="15240">
            <a:solidFill>
              <a:srgbClr val="A91E37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6DA11DC-1CFF-7F16-36DA-CBA0B39729A5}"/>
              </a:ext>
            </a:extLst>
          </p:cNvPr>
          <p:cNvSpPr/>
          <p:nvPr/>
        </p:nvSpPr>
        <p:spPr>
          <a:xfrm>
            <a:off x="4572000" y="1600200"/>
            <a:ext cx="1422400" cy="304800"/>
          </a:xfrm>
          <a:prstGeom prst="round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USER NEED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113C4-79EA-90D2-14CB-C886FAFC9B60}"/>
              </a:ext>
            </a:extLst>
          </p:cNvPr>
          <p:cNvSpPr txBox="1"/>
          <p:nvPr/>
        </p:nvSpPr>
        <p:spPr>
          <a:xfrm>
            <a:off x="4572000" y="1950547"/>
            <a:ext cx="30480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2300" b="1">
                <a:solidFill>
                  <a:srgbClr val="2A3E4A"/>
                </a:solidFill>
                <a:latin typeface="Aptos" panose="020B0004020202020204" pitchFamily="34" charset="0"/>
              </a:rPr>
              <a:t>Traceable evidence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501297-FA24-AF61-2AAC-F5C642B42E5E}"/>
              </a:ext>
            </a:extLst>
          </p:cNvPr>
          <p:cNvSpPr txBox="1"/>
          <p:nvPr/>
        </p:nvSpPr>
        <p:spPr>
          <a:xfrm>
            <a:off x="4572000" y="2407747"/>
            <a:ext cx="3048000" cy="32829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626C74"/>
                </a:solidFill>
                <a:latin typeface="Aptos" panose="020B0004020202020204" pitchFamily="34" charset="0"/>
              </a:rPr>
              <a:t>Specific paper + PDF position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13E10CE-7F6D-1136-B717-9A5D4E04B52D}"/>
              </a:ext>
            </a:extLst>
          </p:cNvPr>
          <p:cNvSpPr/>
          <p:nvPr/>
        </p:nvSpPr>
        <p:spPr>
          <a:xfrm>
            <a:off x="8077200" y="1422400"/>
            <a:ext cx="3505200" cy="1549400"/>
          </a:xfrm>
          <a:prstGeom prst="roundRect">
            <a:avLst/>
          </a:prstGeom>
          <a:solidFill>
            <a:srgbClr val="E9F6EF"/>
          </a:solidFill>
          <a:ln w="15240">
            <a:solidFill>
              <a:srgbClr val="308F5D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D7DD85-9C45-126A-1D61-6E779A1FE24C}"/>
              </a:ext>
            </a:extLst>
          </p:cNvPr>
          <p:cNvSpPr/>
          <p:nvPr/>
        </p:nvSpPr>
        <p:spPr>
          <a:xfrm>
            <a:off x="8305800" y="1600200"/>
            <a:ext cx="1422400" cy="304800"/>
          </a:xfrm>
          <a:prstGeom prst="roundRect">
            <a:avLst/>
          </a:prstGeom>
          <a:solidFill>
            <a:srgbClr val="308F5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FINAL 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54649D-C8B3-2CE7-E8FC-E92B9FC1DBBC}"/>
              </a:ext>
            </a:extLst>
          </p:cNvPr>
          <p:cNvSpPr txBox="1"/>
          <p:nvPr/>
        </p:nvSpPr>
        <p:spPr>
          <a:xfrm>
            <a:off x="8305800" y="1950547"/>
            <a:ext cx="3048000" cy="482183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2300" b="1">
                <a:solidFill>
                  <a:srgbClr val="2A3E4A"/>
                </a:solidFill>
                <a:latin typeface="Aptos" panose="020B0004020202020204" pitchFamily="34" charset="0"/>
              </a:rPr>
              <a:t>Hybrid + Agentic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E047C-C723-A051-5B4E-9BEC0D162A8D}"/>
              </a:ext>
            </a:extLst>
          </p:cNvPr>
          <p:cNvSpPr txBox="1"/>
          <p:nvPr/>
        </p:nvSpPr>
        <p:spPr>
          <a:xfrm>
            <a:off x="8305800" y="2407747"/>
            <a:ext cx="3048000" cy="32829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626C74"/>
                </a:solidFill>
                <a:latin typeface="Aptos" panose="020B0004020202020204" pitchFamily="34" charset="0"/>
              </a:rPr>
              <a:t>Secure, cached, and evaluated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97FDDB-DD2C-C291-2B46-EE2FDE509CDD}"/>
              </a:ext>
            </a:extLst>
          </p:cNvPr>
          <p:cNvSpPr txBox="1"/>
          <p:nvPr/>
        </p:nvSpPr>
        <p:spPr>
          <a:xfrm>
            <a:off x="609600" y="3322147"/>
            <a:ext cx="3810000" cy="40523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800" b="1">
                <a:solidFill>
                  <a:srgbClr val="2A3E4A"/>
                </a:solidFill>
                <a:latin typeface="Aptos" panose="020B0004020202020204" pitchFamily="34" charset="0"/>
              </a:rPr>
              <a:t>How the system evolved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A0E7C08-5499-8FA9-5FC2-8DB91E134169}"/>
              </a:ext>
            </a:extLst>
          </p:cNvPr>
          <p:cNvCxnSpPr/>
          <p:nvPr/>
        </p:nvCxnSpPr>
        <p:spPr>
          <a:xfrm>
            <a:off x="1117600" y="4318000"/>
            <a:ext cx="9931400" cy="0"/>
          </a:xfrm>
          <a:prstGeom prst="line">
            <a:avLst/>
          </a:prstGeom>
          <a:ln w="38100">
            <a:solidFill>
              <a:srgbClr val="B4BB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84C7C4D3-3F91-237F-BA54-D89047EE6177}"/>
              </a:ext>
            </a:extLst>
          </p:cNvPr>
          <p:cNvSpPr/>
          <p:nvPr/>
        </p:nvSpPr>
        <p:spPr>
          <a:xfrm>
            <a:off x="850900" y="4051300"/>
            <a:ext cx="533400" cy="533400"/>
          </a:xfrm>
          <a:prstGeom prst="ellipse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1.1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A7B5D6-B9D3-1060-0D84-907A70E371A4}"/>
              </a:ext>
            </a:extLst>
          </p:cNvPr>
          <p:cNvSpPr txBox="1"/>
          <p:nvPr/>
        </p:nvSpPr>
        <p:spPr>
          <a:xfrm>
            <a:off x="292100" y="4668347"/>
            <a:ext cx="1651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252B30"/>
                </a:solidFill>
                <a:latin typeface="Aptos" panose="020B0004020202020204" pitchFamily="34" charset="0"/>
              </a:rPr>
              <a:t>No retrieval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94AF8EE-FF1F-E491-ACAD-DECD7ABD3E75}"/>
              </a:ext>
            </a:extLst>
          </p:cNvPr>
          <p:cNvSpPr/>
          <p:nvPr/>
        </p:nvSpPr>
        <p:spPr>
          <a:xfrm>
            <a:off x="2832100" y="4051300"/>
            <a:ext cx="533400" cy="533400"/>
          </a:xfrm>
          <a:prstGeom prst="ellipse">
            <a:avLst/>
          </a:prstGeom>
          <a:solidFill>
            <a:srgbClr val="3165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2.1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2520F8-63BC-5208-C56E-B6501AE2C112}"/>
              </a:ext>
            </a:extLst>
          </p:cNvPr>
          <p:cNvSpPr txBox="1"/>
          <p:nvPr/>
        </p:nvSpPr>
        <p:spPr>
          <a:xfrm>
            <a:off x="2273300" y="4668347"/>
            <a:ext cx="1651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252B30"/>
                </a:solidFill>
                <a:latin typeface="Aptos" panose="020B0004020202020204" pitchFamily="34" charset="0"/>
              </a:rPr>
              <a:t>Page retrieval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A8481A1-A381-7726-A00F-1B9593DDB233}"/>
              </a:ext>
            </a:extLst>
          </p:cNvPr>
          <p:cNvSpPr/>
          <p:nvPr/>
        </p:nvSpPr>
        <p:spPr>
          <a:xfrm>
            <a:off x="4813300" y="4051300"/>
            <a:ext cx="533400" cy="533400"/>
          </a:xfrm>
          <a:prstGeom prst="ellipse">
            <a:avLst/>
          </a:prstGeom>
          <a:solidFill>
            <a:srgbClr val="DA9C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3.1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A1D3B1-47AC-199A-5635-83129379D26C}"/>
              </a:ext>
            </a:extLst>
          </p:cNvPr>
          <p:cNvSpPr txBox="1"/>
          <p:nvPr/>
        </p:nvSpPr>
        <p:spPr>
          <a:xfrm>
            <a:off x="4254500" y="4668347"/>
            <a:ext cx="1651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252B30"/>
                </a:solidFill>
                <a:latin typeface="Aptos" panose="020B0004020202020204" pitchFamily="34" charset="0"/>
              </a:rPr>
              <a:t>Evaluation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8FE0A68-71D2-FB1E-DCA8-193753D3E2A3}"/>
              </a:ext>
            </a:extLst>
          </p:cNvPr>
          <p:cNvSpPr/>
          <p:nvPr/>
        </p:nvSpPr>
        <p:spPr>
          <a:xfrm>
            <a:off x="6794500" y="4051300"/>
            <a:ext cx="533400" cy="533400"/>
          </a:xfrm>
          <a:prstGeom prst="ellipse">
            <a:avLst/>
          </a:prstGeom>
          <a:solidFill>
            <a:srgbClr val="28878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4.1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81FBA9-7DBA-7914-0469-2EEF50583972}"/>
              </a:ext>
            </a:extLst>
          </p:cNvPr>
          <p:cNvSpPr txBox="1"/>
          <p:nvPr/>
        </p:nvSpPr>
        <p:spPr>
          <a:xfrm>
            <a:off x="6235700" y="4668347"/>
            <a:ext cx="1651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252B30"/>
                </a:solidFill>
                <a:latin typeface="Aptos" panose="020B0004020202020204" pitchFamily="34" charset="0"/>
              </a:rPr>
              <a:t>Advanced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D92A2A0-B683-52DD-A4BC-FAE5B083B885}"/>
              </a:ext>
            </a:extLst>
          </p:cNvPr>
          <p:cNvSpPr/>
          <p:nvPr/>
        </p:nvSpPr>
        <p:spPr>
          <a:xfrm>
            <a:off x="8775700" y="4051300"/>
            <a:ext cx="533400" cy="533400"/>
          </a:xfrm>
          <a:prstGeom prst="ellipse">
            <a:avLst/>
          </a:prstGeom>
          <a:solidFill>
            <a:srgbClr val="2A3E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5.1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01270F-2F7A-A7C6-0EE2-A4A20067CE16}"/>
              </a:ext>
            </a:extLst>
          </p:cNvPr>
          <p:cNvSpPr txBox="1"/>
          <p:nvPr/>
        </p:nvSpPr>
        <p:spPr>
          <a:xfrm>
            <a:off x="8216900" y="4668347"/>
            <a:ext cx="1651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252B30"/>
                </a:solidFill>
                <a:latin typeface="Aptos" panose="020B0004020202020204" pitchFamily="34" charset="0"/>
              </a:rPr>
              <a:t>Agentic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76438B-B714-9C83-4774-A09F8EF1EDE6}"/>
              </a:ext>
            </a:extLst>
          </p:cNvPr>
          <p:cNvSpPr/>
          <p:nvPr/>
        </p:nvSpPr>
        <p:spPr>
          <a:xfrm>
            <a:off x="10782300" y="4051300"/>
            <a:ext cx="533400" cy="533400"/>
          </a:xfrm>
          <a:prstGeom prst="ellipse">
            <a:avLst/>
          </a:prstGeom>
          <a:solidFill>
            <a:srgbClr val="308F5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7.1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2B5D1F-F662-121E-C4EF-2180DBDD7D96}"/>
              </a:ext>
            </a:extLst>
          </p:cNvPr>
          <p:cNvSpPr txBox="1"/>
          <p:nvPr/>
        </p:nvSpPr>
        <p:spPr>
          <a:xfrm>
            <a:off x="10223500" y="4668347"/>
            <a:ext cx="1651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252B30"/>
                </a:solidFill>
                <a:latin typeface="Aptos" panose="020B0004020202020204" pitchFamily="34" charset="0"/>
              </a:rPr>
              <a:t>Production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0626CF6-95EA-57E8-AB47-693ECC54E484}"/>
              </a:ext>
            </a:extLst>
          </p:cNvPr>
          <p:cNvSpPr/>
          <p:nvPr/>
        </p:nvSpPr>
        <p:spPr>
          <a:xfrm>
            <a:off x="1651000" y="5397500"/>
            <a:ext cx="8890000" cy="660400"/>
          </a:xfrm>
          <a:prstGeom prst="roundRect">
            <a:avLst/>
          </a:prstGeom>
          <a:solidFill>
            <a:srgbClr val="F1F3F5"/>
          </a:solidFill>
          <a:ln w="15240">
            <a:solidFill>
              <a:srgbClr val="B4BBC0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088690-927F-1086-59AE-20A6471D11C3}"/>
              </a:ext>
            </a:extLst>
          </p:cNvPr>
          <p:cNvSpPr txBox="1"/>
          <p:nvPr/>
        </p:nvSpPr>
        <p:spPr>
          <a:xfrm>
            <a:off x="1905000" y="5468447"/>
            <a:ext cx="83820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252B30"/>
                </a:solidFill>
                <a:latin typeface="Aptos" panose="020B0004020202020204" pitchFamily="34" charset="0"/>
              </a:rPr>
              <a:t>Goal: reduce the time needed to find evidence without hiding uncertainty or fabricating citations.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5CA77F-5237-3BEB-BEAE-6807147A2B66}"/>
              </a:ext>
            </a:extLst>
          </p:cNvPr>
          <p:cNvSpPr txBox="1"/>
          <p:nvPr/>
        </p:nvSpPr>
        <p:spPr>
          <a:xfrm>
            <a:off x="355600" y="6433646"/>
            <a:ext cx="45720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900">
                <a:solidFill>
                  <a:srgbClr val="626C74"/>
                </a:solidFill>
                <a:latin typeface="Aptos" panose="020B0004020202020204" pitchFamily="34" charset="0"/>
              </a:rPr>
              <a:t>RESEARCH PAPER NAVIGATOR  |  VIGNESH MANDALAPA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0A2F04-BF38-06FB-55F9-63D1CC145240}"/>
              </a:ext>
            </a:extLst>
          </p:cNvPr>
          <p:cNvSpPr txBox="1"/>
          <p:nvPr/>
        </p:nvSpPr>
        <p:spPr>
          <a:xfrm>
            <a:off x="11430000" y="6420946"/>
            <a:ext cx="3556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000" b="1">
                <a:solidFill>
                  <a:srgbClr val="626C74"/>
                </a:solidFill>
                <a:latin typeface="Aptos" panose="020B0004020202020204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F3F64E-BE4D-D3DF-57D5-BF67AE1E9EDD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D5F13-B069-5D67-CC21-1DB6271FF09E}"/>
              </a:ext>
            </a:extLst>
          </p:cNvPr>
          <p:cNvSpPr/>
          <p:nvPr/>
        </p:nvSpPr>
        <p:spPr>
          <a:xfrm>
            <a:off x="482600" y="1054100"/>
            <a:ext cx="11226800" cy="38100"/>
          </a:xfrm>
          <a:prstGeom prst="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3B908F-0368-F663-2A35-D86D233ADD17}"/>
              </a:ext>
            </a:extLst>
          </p:cNvPr>
          <p:cNvSpPr/>
          <p:nvPr/>
        </p:nvSpPr>
        <p:spPr>
          <a:xfrm>
            <a:off x="584200" y="1422400"/>
            <a:ext cx="5232400" cy="4368800"/>
          </a:xfrm>
          <a:prstGeom prst="roundRect">
            <a:avLst/>
          </a:prstGeom>
          <a:solidFill>
            <a:srgbClr val="FAECF0"/>
          </a:solidFill>
          <a:ln w="15240">
            <a:solidFill>
              <a:srgbClr val="A91E37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1FA882-3D3B-A6A0-6B6F-4F3E0141177C}"/>
              </a:ext>
            </a:extLst>
          </p:cNvPr>
          <p:cNvSpPr/>
          <p:nvPr/>
        </p:nvSpPr>
        <p:spPr>
          <a:xfrm>
            <a:off x="838200" y="1651000"/>
            <a:ext cx="2032000" cy="317500"/>
          </a:xfrm>
          <a:prstGeom prst="round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OBSERVED BASELINE FAILURE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EA48D-3D3D-9DEA-ABC1-69B47F1098C7}"/>
              </a:ext>
            </a:extLst>
          </p:cNvPr>
          <p:cNvSpPr txBox="1"/>
          <p:nvPr/>
        </p:nvSpPr>
        <p:spPr>
          <a:xfrm>
            <a:off x="850900" y="2141046"/>
            <a:ext cx="4572000" cy="71301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900" b="1">
                <a:solidFill>
                  <a:srgbClr val="252B30"/>
                </a:solidFill>
                <a:latin typeface="Aptos" panose="020B0004020202020204" pitchFamily="34" charset="0"/>
              </a:rPr>
              <a:t>"Give me an exact quotation and page number from this paper."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72EBCC-C10D-CD1D-820F-C61F7DF5FDDF}"/>
              </a:ext>
            </a:extLst>
          </p:cNvPr>
          <p:cNvCxnSpPr/>
          <p:nvPr/>
        </p:nvCxnSpPr>
        <p:spPr>
          <a:xfrm>
            <a:off x="863600" y="2933700"/>
            <a:ext cx="4470400" cy="0"/>
          </a:xfrm>
          <a:prstGeom prst="line">
            <a:avLst/>
          </a:prstGeom>
          <a:ln w="19050">
            <a:solidFill>
              <a:srgbClr val="A91E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359C05-5B5C-B68F-4FF2-49DB3FE6F72C}"/>
              </a:ext>
            </a:extLst>
          </p:cNvPr>
          <p:cNvSpPr txBox="1"/>
          <p:nvPr/>
        </p:nvSpPr>
        <p:spPr>
          <a:xfrm>
            <a:off x="863600" y="3093547"/>
            <a:ext cx="4572000" cy="151323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500">
                <a:solidFill>
                  <a:srgbClr val="252B30"/>
                </a:solidFill>
                <a:latin typeface="Aptos" panose="020B0004020202020204" pitchFamily="34" charset="0"/>
              </a:rPr>
              <a:t>The model produced a plausible explanation, but the quotation was not verbatim and the page could not be verified.</a:t>
            </a:r>
          </a:p>
          <a:p>
            <a:endParaRPr lang="en-US" sz="1500">
              <a:solidFill>
                <a:srgbClr val="252B30"/>
              </a:solidFill>
              <a:latin typeface="Aptos" panose="020B0004020202020204" pitchFamily="34" charset="0"/>
            </a:endParaRPr>
          </a:p>
          <a:p>
            <a:r>
              <a:rPr lang="en-US" sz="1500">
                <a:solidFill>
                  <a:srgbClr val="252B30"/>
                </a:solidFill>
                <a:latin typeface="Aptos" panose="020B0004020202020204" pitchFamily="34" charset="0"/>
              </a:rPr>
              <a:t>Another prompt correctly admitted that it did not have the paper.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F1320A-47BE-3B83-F940-9EF04AAFFFCF}"/>
              </a:ext>
            </a:extLst>
          </p:cNvPr>
          <p:cNvSpPr/>
          <p:nvPr/>
        </p:nvSpPr>
        <p:spPr>
          <a:xfrm>
            <a:off x="965200" y="4826000"/>
            <a:ext cx="4445000" cy="66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91E37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0A3B79-7AD8-B855-B135-414BD481E0A0}"/>
              </a:ext>
            </a:extLst>
          </p:cNvPr>
          <p:cNvSpPr txBox="1"/>
          <p:nvPr/>
        </p:nvSpPr>
        <p:spPr>
          <a:xfrm>
            <a:off x="1104900" y="4909647"/>
            <a:ext cx="4165600" cy="374461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79172B"/>
                </a:solidFill>
                <a:latin typeface="Aptos" panose="020B0004020202020204" pitchFamily="34" charset="0"/>
              </a:rPr>
              <a:t>Correct-sounding is not source-verified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69FCDD-10FA-03D9-7B5C-1589C44B5A0E}"/>
              </a:ext>
            </a:extLst>
          </p:cNvPr>
          <p:cNvSpPr/>
          <p:nvPr/>
        </p:nvSpPr>
        <p:spPr>
          <a:xfrm>
            <a:off x="6273800" y="1473200"/>
            <a:ext cx="5308600" cy="1193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91E37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8AB437-3423-D7FE-6811-57D641BF1596}"/>
              </a:ext>
            </a:extLst>
          </p:cNvPr>
          <p:cNvSpPr/>
          <p:nvPr/>
        </p:nvSpPr>
        <p:spPr>
          <a:xfrm>
            <a:off x="6502400" y="1689100"/>
            <a:ext cx="279400" cy="279400"/>
          </a:xfrm>
          <a:prstGeom prst="ellipse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72FB9-4BC8-0059-5743-98189A3C9328}"/>
              </a:ext>
            </a:extLst>
          </p:cNvPr>
          <p:cNvSpPr txBox="1"/>
          <p:nvPr/>
        </p:nvSpPr>
        <p:spPr>
          <a:xfrm>
            <a:off x="6934200" y="1569547"/>
            <a:ext cx="4292600" cy="3898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700" b="1">
                <a:solidFill>
                  <a:srgbClr val="2A3E4A"/>
                </a:solidFill>
                <a:latin typeface="Aptos" panose="020B0004020202020204" pitchFamily="34" charset="0"/>
              </a:rPr>
              <a:t>Hallucinated quotations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2AFC13-0939-5648-8062-312919FD337B}"/>
              </a:ext>
            </a:extLst>
          </p:cNvPr>
          <p:cNvSpPr txBox="1"/>
          <p:nvPr/>
        </p:nvSpPr>
        <p:spPr>
          <a:xfrm>
            <a:off x="6934200" y="1937847"/>
            <a:ext cx="42926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626C74"/>
                </a:solidFill>
                <a:latin typeface="Aptos" panose="020B0004020202020204" pitchFamily="34" charset="0"/>
              </a:rPr>
              <a:t>Remembered or inferred text may be presented as source wording.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2574148-9BD1-45AC-2DC2-D1B0C96B25CB}"/>
              </a:ext>
            </a:extLst>
          </p:cNvPr>
          <p:cNvSpPr/>
          <p:nvPr/>
        </p:nvSpPr>
        <p:spPr>
          <a:xfrm>
            <a:off x="6273800" y="2870200"/>
            <a:ext cx="5308600" cy="1193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657C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BFF7ED-B2F7-FE0B-9202-737F263265C3}"/>
              </a:ext>
            </a:extLst>
          </p:cNvPr>
          <p:cNvSpPr/>
          <p:nvPr/>
        </p:nvSpPr>
        <p:spPr>
          <a:xfrm>
            <a:off x="6502400" y="3086100"/>
            <a:ext cx="279400" cy="279400"/>
          </a:xfrm>
          <a:prstGeom prst="ellipse">
            <a:avLst/>
          </a:prstGeom>
          <a:solidFill>
            <a:srgbClr val="3165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18B359-955B-3D3B-0B26-5F295ECDEA58}"/>
              </a:ext>
            </a:extLst>
          </p:cNvPr>
          <p:cNvSpPr txBox="1"/>
          <p:nvPr/>
        </p:nvSpPr>
        <p:spPr>
          <a:xfrm>
            <a:off x="6934200" y="2966547"/>
            <a:ext cx="4292600" cy="3898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700" b="1">
                <a:solidFill>
                  <a:srgbClr val="2A3E4A"/>
                </a:solidFill>
                <a:latin typeface="Aptos" panose="020B0004020202020204" pitchFamily="34" charset="0"/>
              </a:rPr>
              <a:t>Whole-paper citations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831BB8-5DAE-1150-7451-2E7F828E0B32}"/>
              </a:ext>
            </a:extLst>
          </p:cNvPr>
          <p:cNvSpPr txBox="1"/>
          <p:nvPr/>
        </p:nvSpPr>
        <p:spPr>
          <a:xfrm>
            <a:off x="6934200" y="3334847"/>
            <a:ext cx="42926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626C74"/>
                </a:solidFill>
                <a:latin typeface="Aptos" panose="020B0004020202020204" pitchFamily="34" charset="0"/>
              </a:rPr>
              <a:t>Users still have to search the paper for the supporting passage.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1D19B65-5C96-B6CC-F9BA-88A921CED6AC}"/>
              </a:ext>
            </a:extLst>
          </p:cNvPr>
          <p:cNvSpPr/>
          <p:nvPr/>
        </p:nvSpPr>
        <p:spPr>
          <a:xfrm>
            <a:off x="6273800" y="4267200"/>
            <a:ext cx="5308600" cy="1193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9C38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9CC74B-0328-C2BD-C6C7-CD1250EA3B86}"/>
              </a:ext>
            </a:extLst>
          </p:cNvPr>
          <p:cNvSpPr/>
          <p:nvPr/>
        </p:nvSpPr>
        <p:spPr>
          <a:xfrm>
            <a:off x="6502400" y="4483100"/>
            <a:ext cx="279400" cy="279400"/>
          </a:xfrm>
          <a:prstGeom prst="ellipse">
            <a:avLst/>
          </a:prstGeom>
          <a:solidFill>
            <a:srgbClr val="DA9C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36FA34-7E79-5320-CCEF-C5741D6D0358}"/>
              </a:ext>
            </a:extLst>
          </p:cNvPr>
          <p:cNvSpPr txBox="1"/>
          <p:nvPr/>
        </p:nvSpPr>
        <p:spPr>
          <a:xfrm>
            <a:off x="6934200" y="4363547"/>
            <a:ext cx="4292600" cy="3898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700" b="1">
                <a:solidFill>
                  <a:srgbClr val="2A3E4A"/>
                </a:solidFill>
                <a:latin typeface="Aptos" panose="020B0004020202020204" pitchFamily="34" charset="0"/>
              </a:rPr>
              <a:t>Cross-paper evidence gaps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2C2A79-FA13-5C67-71D5-8FCB68E8BDF5}"/>
              </a:ext>
            </a:extLst>
          </p:cNvPr>
          <p:cNvSpPr txBox="1"/>
          <p:nvPr/>
        </p:nvSpPr>
        <p:spPr>
          <a:xfrm>
            <a:off x="6934200" y="4731847"/>
            <a:ext cx="42926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626C74"/>
                </a:solidFill>
                <a:latin typeface="Aptos" panose="020B0004020202020204" pitchFamily="34" charset="0"/>
              </a:rPr>
              <a:t>A fluent comparison can combine incomplete or loosely related evidence.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1F8AD65-FD04-0156-8B10-63FC9CC9C741}"/>
              </a:ext>
            </a:extLst>
          </p:cNvPr>
          <p:cNvSpPr/>
          <p:nvPr/>
        </p:nvSpPr>
        <p:spPr>
          <a:xfrm>
            <a:off x="7467600" y="5702300"/>
            <a:ext cx="2921000" cy="342900"/>
          </a:xfrm>
          <a:prstGeom prst="roundRect">
            <a:avLst/>
          </a:prstGeom>
          <a:solidFill>
            <a:srgbClr val="2A3E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INTENDED USERS: RESEARCHERS + STUDENTS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8B75F3-4383-B60A-F465-F916B253D8DC}"/>
              </a:ext>
            </a:extLst>
          </p:cNvPr>
          <p:cNvSpPr txBox="1"/>
          <p:nvPr/>
        </p:nvSpPr>
        <p:spPr>
          <a:xfrm>
            <a:off x="355600" y="6433646"/>
            <a:ext cx="45720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900">
                <a:solidFill>
                  <a:srgbClr val="626C74"/>
                </a:solidFill>
                <a:latin typeface="Aptos" panose="020B0004020202020204" pitchFamily="34" charset="0"/>
              </a:rPr>
              <a:t>RESEARCH PAPER NAVIGATOR  |  VIGNESH MANDALAPA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874BDB-5D37-3DF6-775A-0D036E5A0E28}"/>
              </a:ext>
            </a:extLst>
          </p:cNvPr>
          <p:cNvSpPr txBox="1"/>
          <p:nvPr/>
        </p:nvSpPr>
        <p:spPr>
          <a:xfrm>
            <a:off x="11430000" y="6420946"/>
            <a:ext cx="3556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000" b="1">
                <a:solidFill>
                  <a:srgbClr val="626C74"/>
                </a:solidFill>
                <a:latin typeface="Aptos" panose="020B00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CF4003-6B2E-87CF-2817-76889C6135B4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C5EEFD-86B9-BA5C-8898-1CF73ED731DC}"/>
              </a:ext>
            </a:extLst>
          </p:cNvPr>
          <p:cNvSpPr/>
          <p:nvPr/>
        </p:nvSpPr>
        <p:spPr>
          <a:xfrm>
            <a:off x="482600" y="1054100"/>
            <a:ext cx="11226800" cy="38100"/>
          </a:xfrm>
          <a:prstGeom prst="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CA3B8F-72A5-7CBE-D2A1-2EBA3C910CD3}"/>
              </a:ext>
            </a:extLst>
          </p:cNvPr>
          <p:cNvSpPr/>
          <p:nvPr/>
        </p:nvSpPr>
        <p:spPr>
          <a:xfrm>
            <a:off x="4445000" y="1308100"/>
            <a:ext cx="3302000" cy="609600"/>
          </a:xfrm>
          <a:prstGeom prst="roundRect">
            <a:avLst/>
          </a:prstGeom>
          <a:solidFill>
            <a:srgbClr val="2A3E4A"/>
          </a:solidFill>
          <a:ln w="15240">
            <a:solidFill>
              <a:srgbClr val="2A3E4A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E921D-E25C-F2C9-7457-096EDC82452F}"/>
              </a:ext>
            </a:extLst>
          </p:cNvPr>
          <p:cNvSpPr txBox="1"/>
          <p:nvPr/>
        </p:nvSpPr>
        <p:spPr>
          <a:xfrm>
            <a:off x="4635500" y="1379047"/>
            <a:ext cx="2921000" cy="3898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USER QUESTION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1E9B21-0B35-4AB8-F3B9-98CB919ECF90}"/>
              </a:ext>
            </a:extLst>
          </p:cNvPr>
          <p:cNvCxnSpPr/>
          <p:nvPr/>
        </p:nvCxnSpPr>
        <p:spPr>
          <a:xfrm>
            <a:off x="6096000" y="1917700"/>
            <a:ext cx="0" cy="228600"/>
          </a:xfrm>
          <a:prstGeom prst="line">
            <a:avLst/>
          </a:prstGeom>
          <a:ln w="31750">
            <a:solidFill>
              <a:srgbClr val="A91E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CE39B3-11F1-C24A-D6CD-E0D77EE403C9}"/>
              </a:ext>
            </a:extLst>
          </p:cNvPr>
          <p:cNvSpPr/>
          <p:nvPr/>
        </p:nvSpPr>
        <p:spPr>
          <a:xfrm>
            <a:off x="4254500" y="2197100"/>
            <a:ext cx="3683000" cy="660400"/>
          </a:xfrm>
          <a:prstGeom prst="roundRect">
            <a:avLst/>
          </a:prstGeom>
          <a:solidFill>
            <a:srgbClr val="FAECF0"/>
          </a:solidFill>
          <a:ln w="15240">
            <a:solidFill>
              <a:srgbClr val="A91E37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D16DC-AB61-7A60-E6D4-60631AC3F0A2}"/>
              </a:ext>
            </a:extLst>
          </p:cNvPr>
          <p:cNvSpPr txBox="1"/>
          <p:nvPr/>
        </p:nvSpPr>
        <p:spPr>
          <a:xfrm>
            <a:off x="4445000" y="2280747"/>
            <a:ext cx="3302000" cy="3898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79172B"/>
                </a:solidFill>
                <a:latin typeface="Aptos" panose="020B0004020202020204" pitchFamily="34" charset="0"/>
              </a:rPr>
              <a:t>SANITIZE + CLASSIFY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0EDF75-9273-4794-6B5D-690B3E7C9FA1}"/>
              </a:ext>
            </a:extLst>
          </p:cNvPr>
          <p:cNvCxnSpPr/>
          <p:nvPr/>
        </p:nvCxnSpPr>
        <p:spPr>
          <a:xfrm>
            <a:off x="6096000" y="2857500"/>
            <a:ext cx="0" cy="215900"/>
          </a:xfrm>
          <a:prstGeom prst="line">
            <a:avLst/>
          </a:prstGeom>
          <a:ln w="31750">
            <a:solidFill>
              <a:srgbClr val="A91E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F29614-22E2-51E0-A0A5-DDF14389C052}"/>
              </a:ext>
            </a:extLst>
          </p:cNvPr>
          <p:cNvSpPr/>
          <p:nvPr/>
        </p:nvSpPr>
        <p:spPr>
          <a:xfrm>
            <a:off x="4025900" y="3124200"/>
            <a:ext cx="4140200" cy="698500"/>
          </a:xfrm>
          <a:prstGeom prst="roundRect">
            <a:avLst/>
          </a:prstGeom>
          <a:solidFill>
            <a:srgbClr val="EAF3F7"/>
          </a:solidFill>
          <a:ln w="15240">
            <a:solidFill>
              <a:srgbClr val="31657C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FC283-68B7-1B7D-AD4C-9AD62543D492}"/>
              </a:ext>
            </a:extLst>
          </p:cNvPr>
          <p:cNvSpPr txBox="1"/>
          <p:nvPr/>
        </p:nvSpPr>
        <p:spPr>
          <a:xfrm>
            <a:off x="4191000" y="3182447"/>
            <a:ext cx="38100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2A3E4A"/>
                </a:solidFill>
                <a:latin typeface="Aptos" panose="020B0004020202020204" pitchFamily="34" charset="0"/>
              </a:rPr>
              <a:t>HYBRID PAGE RETRIEVAL</a:t>
            </a:r>
          </a:p>
          <a:p>
            <a:pPr algn="ctr"/>
            <a:r>
              <a:rPr lang="en-US" sz="1500" b="1">
                <a:solidFill>
                  <a:srgbClr val="2A3E4A"/>
                </a:solidFill>
                <a:latin typeface="Aptos" panose="020B0004020202020204" pitchFamily="34" charset="0"/>
              </a:rPr>
              <a:t>BM25 + semantic vectors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134DF1-C64C-10BF-C872-95FED26B6FE5}"/>
              </a:ext>
            </a:extLst>
          </p:cNvPr>
          <p:cNvCxnSpPr/>
          <p:nvPr/>
        </p:nvCxnSpPr>
        <p:spPr>
          <a:xfrm>
            <a:off x="6096000" y="3822700"/>
            <a:ext cx="0" cy="190500"/>
          </a:xfrm>
          <a:prstGeom prst="line">
            <a:avLst/>
          </a:prstGeom>
          <a:ln w="31750">
            <a:solidFill>
              <a:srgbClr val="A91E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iamond 13">
            <a:extLst>
              <a:ext uri="{FF2B5EF4-FFF2-40B4-BE49-F238E27FC236}">
                <a16:creationId xmlns:a16="http://schemas.microsoft.com/office/drawing/2014/main" id="{6CCD8C21-17FF-5041-2D4A-284BD3BCC212}"/>
              </a:ext>
            </a:extLst>
          </p:cNvPr>
          <p:cNvSpPr/>
          <p:nvPr/>
        </p:nvSpPr>
        <p:spPr>
          <a:xfrm>
            <a:off x="5397500" y="4051300"/>
            <a:ext cx="1397000" cy="787400"/>
          </a:xfrm>
          <a:prstGeom prst="diamond">
            <a:avLst/>
          </a:prstGeom>
          <a:solidFill>
            <a:srgbClr val="FCF5E1"/>
          </a:solidFill>
          <a:ln w="19050">
            <a:solidFill>
              <a:srgbClr val="DA9C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sz="1300" b="1">
                <a:solidFill>
                  <a:srgbClr val="252B30"/>
                </a:solidFill>
                <a:latin typeface="Aptos" panose="020B0004020202020204" pitchFamily="34" charset="0"/>
              </a:rPr>
              <a:t>ROUTE?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DD54F2-81AE-19B7-FC30-883A74A45582}"/>
              </a:ext>
            </a:extLst>
          </p:cNvPr>
          <p:cNvCxnSpPr/>
          <p:nvPr/>
        </p:nvCxnSpPr>
        <p:spPr>
          <a:xfrm flipH="1">
            <a:off x="3492500" y="4445000"/>
            <a:ext cx="1905000" cy="0"/>
          </a:xfrm>
          <a:prstGeom prst="line">
            <a:avLst/>
          </a:prstGeom>
          <a:ln w="27940">
            <a:solidFill>
              <a:srgbClr val="3165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9E5743-E0AA-FE96-1513-9D1E13104D17}"/>
              </a:ext>
            </a:extLst>
          </p:cNvPr>
          <p:cNvCxnSpPr/>
          <p:nvPr/>
        </p:nvCxnSpPr>
        <p:spPr>
          <a:xfrm>
            <a:off x="6794500" y="4445000"/>
            <a:ext cx="1905000" cy="0"/>
          </a:xfrm>
          <a:prstGeom prst="line">
            <a:avLst/>
          </a:prstGeom>
          <a:ln w="27940">
            <a:solidFill>
              <a:srgbClr val="28878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F504D4-3B63-CD32-9621-3060B15B7D45}"/>
              </a:ext>
            </a:extLst>
          </p:cNvPr>
          <p:cNvSpPr txBox="1"/>
          <p:nvPr/>
        </p:nvSpPr>
        <p:spPr>
          <a:xfrm>
            <a:off x="3632200" y="4046046"/>
            <a:ext cx="13970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000" b="1">
                <a:solidFill>
                  <a:srgbClr val="31657C"/>
                </a:solidFill>
                <a:latin typeface="Aptos" panose="020B0004020202020204" pitchFamily="34" charset="0"/>
              </a:rPr>
              <a:t>1 named paper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2C9D47-AA64-8E8F-90F2-520E7F521625}"/>
              </a:ext>
            </a:extLst>
          </p:cNvPr>
          <p:cNvSpPr txBox="1"/>
          <p:nvPr/>
        </p:nvSpPr>
        <p:spPr>
          <a:xfrm>
            <a:off x="7150100" y="4046046"/>
            <a:ext cx="16510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000" b="1">
                <a:solidFill>
                  <a:srgbClr val="288789"/>
                </a:solidFill>
                <a:latin typeface="Aptos" panose="020B0004020202020204" pitchFamily="34" charset="0"/>
              </a:rPr>
              <a:t>comparison / broad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46CA70-0BD3-ADFD-EFEA-9DE2FE9FB8DD}"/>
              </a:ext>
            </a:extLst>
          </p:cNvPr>
          <p:cNvSpPr/>
          <p:nvPr/>
        </p:nvSpPr>
        <p:spPr>
          <a:xfrm>
            <a:off x="1117600" y="4775200"/>
            <a:ext cx="4064000" cy="965200"/>
          </a:xfrm>
          <a:prstGeom prst="roundRect">
            <a:avLst/>
          </a:prstGeom>
          <a:solidFill>
            <a:srgbClr val="EAF3F7"/>
          </a:solidFill>
          <a:ln w="15240">
            <a:solidFill>
              <a:srgbClr val="31657C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60C753-B489-D8C0-D3D8-BDB54C34D2F7}"/>
              </a:ext>
            </a:extLst>
          </p:cNvPr>
          <p:cNvSpPr txBox="1"/>
          <p:nvPr/>
        </p:nvSpPr>
        <p:spPr>
          <a:xfrm>
            <a:off x="1333500" y="4846147"/>
            <a:ext cx="3632200" cy="374461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31657C"/>
                </a:solidFill>
                <a:latin typeface="Aptos" panose="020B0004020202020204" pitchFamily="34" charset="0"/>
              </a:rPr>
              <a:t>DIRECT PATH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6A1D5-E10E-316D-E48D-2F42F04E862E}"/>
              </a:ext>
            </a:extLst>
          </p:cNvPr>
          <p:cNvSpPr txBox="1"/>
          <p:nvPr/>
        </p:nvSpPr>
        <p:spPr>
          <a:xfrm>
            <a:off x="1333500" y="5163647"/>
            <a:ext cx="3632200" cy="32829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1 retrieval + 1 answer call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3F8F9D0-8AB1-5656-449B-099752E56252}"/>
              </a:ext>
            </a:extLst>
          </p:cNvPr>
          <p:cNvSpPr/>
          <p:nvPr/>
        </p:nvSpPr>
        <p:spPr>
          <a:xfrm>
            <a:off x="7010400" y="4775200"/>
            <a:ext cx="4064000" cy="965200"/>
          </a:xfrm>
          <a:prstGeom prst="roundRect">
            <a:avLst/>
          </a:prstGeom>
          <a:solidFill>
            <a:srgbClr val="E9F6EF"/>
          </a:solidFill>
          <a:ln w="15240">
            <a:solidFill>
              <a:srgbClr val="288789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4ADF83-1591-14F9-FE36-D4327C0BA091}"/>
              </a:ext>
            </a:extLst>
          </p:cNvPr>
          <p:cNvSpPr txBox="1"/>
          <p:nvPr/>
        </p:nvSpPr>
        <p:spPr>
          <a:xfrm>
            <a:off x="7239000" y="4846147"/>
            <a:ext cx="3606800" cy="374461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88789"/>
                </a:solidFill>
                <a:latin typeface="Aptos" panose="020B0004020202020204" pitchFamily="34" charset="0"/>
              </a:rPr>
              <a:t>MULTISTEP AGENT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957717-4AD2-A40A-A5C3-262F551BB483}"/>
              </a:ext>
            </a:extLst>
          </p:cNvPr>
          <p:cNvSpPr txBox="1"/>
          <p:nvPr/>
        </p:nvSpPr>
        <p:spPr>
          <a:xfrm>
            <a:off x="7239000" y="5150947"/>
            <a:ext cx="36068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200">
                <a:solidFill>
                  <a:srgbClr val="252B30"/>
                </a:solidFill>
                <a:latin typeface="Aptos" panose="020B0004020202020204" pitchFamily="34" charset="0"/>
              </a:rPr>
              <a:t>decompose | check coverage | expand pages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471D4C-00A7-11E1-EF87-29135BDF173E}"/>
              </a:ext>
            </a:extLst>
          </p:cNvPr>
          <p:cNvCxnSpPr/>
          <p:nvPr/>
        </p:nvCxnSpPr>
        <p:spPr>
          <a:xfrm>
            <a:off x="3149600" y="5740400"/>
            <a:ext cx="1803400" cy="330200"/>
          </a:xfrm>
          <a:prstGeom prst="line">
            <a:avLst/>
          </a:prstGeom>
          <a:ln w="27940">
            <a:solidFill>
              <a:srgbClr val="3165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994AC0-B192-445E-1360-637190172A43}"/>
              </a:ext>
            </a:extLst>
          </p:cNvPr>
          <p:cNvCxnSpPr/>
          <p:nvPr/>
        </p:nvCxnSpPr>
        <p:spPr>
          <a:xfrm flipH="1">
            <a:off x="7239000" y="5740400"/>
            <a:ext cx="1803400" cy="330200"/>
          </a:xfrm>
          <a:prstGeom prst="line">
            <a:avLst/>
          </a:prstGeom>
          <a:ln w="27940">
            <a:solidFill>
              <a:srgbClr val="28878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ACF485D-1121-B3A0-9C83-9E8716437937}"/>
              </a:ext>
            </a:extLst>
          </p:cNvPr>
          <p:cNvSpPr/>
          <p:nvPr/>
        </p:nvSpPr>
        <p:spPr>
          <a:xfrm>
            <a:off x="4165600" y="5867400"/>
            <a:ext cx="3860800" cy="660400"/>
          </a:xfrm>
          <a:prstGeom prst="roundRect">
            <a:avLst/>
          </a:prstGeom>
          <a:solidFill>
            <a:srgbClr val="2A3E4A"/>
          </a:solidFill>
          <a:ln w="15240">
            <a:solidFill>
              <a:srgbClr val="2A3E4A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6CF511-6BEA-F737-5CF7-A9FF9E6E17CD}"/>
              </a:ext>
            </a:extLst>
          </p:cNvPr>
          <p:cNvSpPr txBox="1"/>
          <p:nvPr/>
        </p:nvSpPr>
        <p:spPr>
          <a:xfrm>
            <a:off x="4343400" y="5938346"/>
            <a:ext cx="3505200" cy="359073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GROUNDED ANSWER + PAGE IDs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B44AC1-A5A9-F485-9663-DAFBA2CF090D}"/>
              </a:ext>
            </a:extLst>
          </p:cNvPr>
          <p:cNvSpPr/>
          <p:nvPr/>
        </p:nvSpPr>
        <p:spPr>
          <a:xfrm>
            <a:off x="8572500" y="6019800"/>
            <a:ext cx="2603500" cy="317500"/>
          </a:xfrm>
          <a:prstGeom prst="roundRect">
            <a:avLst/>
          </a:prstGeom>
          <a:solidFill>
            <a:srgbClr val="308F5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validated answer -&gt; semantic cache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C84ED6-3EE1-69AD-7D05-E73692308D74}"/>
              </a:ext>
            </a:extLst>
          </p:cNvPr>
          <p:cNvSpPr txBox="1"/>
          <p:nvPr/>
        </p:nvSpPr>
        <p:spPr>
          <a:xfrm>
            <a:off x="355600" y="6433646"/>
            <a:ext cx="45720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900">
                <a:solidFill>
                  <a:srgbClr val="626C74"/>
                </a:solidFill>
                <a:latin typeface="Aptos" panose="020B0004020202020204" pitchFamily="34" charset="0"/>
              </a:rPr>
              <a:t>RESEARCH PAPER NAVIGATOR  |  VIGNESH MANDALAPA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1B80D-8DC3-CBAC-9667-26B9869D5557}"/>
              </a:ext>
            </a:extLst>
          </p:cNvPr>
          <p:cNvSpPr txBox="1"/>
          <p:nvPr/>
        </p:nvSpPr>
        <p:spPr>
          <a:xfrm>
            <a:off x="11430000" y="6420946"/>
            <a:ext cx="3556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000" b="1">
                <a:solidFill>
                  <a:srgbClr val="626C74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8922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D08B99-26E8-96E3-B453-DEED97ED3C1F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 and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42755E-CFA7-8B57-8C72-723E8DFB358B}"/>
              </a:ext>
            </a:extLst>
          </p:cNvPr>
          <p:cNvSpPr/>
          <p:nvPr/>
        </p:nvSpPr>
        <p:spPr>
          <a:xfrm>
            <a:off x="482600" y="1054100"/>
            <a:ext cx="11226800" cy="38100"/>
          </a:xfrm>
          <a:prstGeom prst="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BFAC7C-920B-A564-9E4B-F2AE29A19F14}"/>
              </a:ext>
            </a:extLst>
          </p:cNvPr>
          <p:cNvSpPr/>
          <p:nvPr/>
        </p:nvSpPr>
        <p:spPr>
          <a:xfrm>
            <a:off x="622300" y="1333500"/>
            <a:ext cx="2222500" cy="317500"/>
          </a:xfrm>
          <a:prstGeom prst="roundRect">
            <a:avLst/>
          </a:prstGeom>
          <a:solidFill>
            <a:srgbClr val="2A3E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SAME SIMPLE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7DD97-40AA-3038-8AFE-EB97CEE5CD87}"/>
              </a:ext>
            </a:extLst>
          </p:cNvPr>
          <p:cNvSpPr txBox="1"/>
          <p:nvPr/>
        </p:nvSpPr>
        <p:spPr>
          <a:xfrm>
            <a:off x="635000" y="1709247"/>
            <a:ext cx="4953000" cy="40523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800" b="1">
                <a:solidFill>
                  <a:srgbClr val="2A3E4A"/>
                </a:solidFill>
                <a:latin typeface="Aptos" panose="020B0004020202020204" pitchFamily="34" charset="0"/>
              </a:rPr>
              <a:t>Direct route vs. full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3FEF7-CD15-779B-0FA6-E750C161E8D9}"/>
              </a:ext>
            </a:extLst>
          </p:cNvPr>
          <p:cNvSpPr txBox="1"/>
          <p:nvPr/>
        </p:nvSpPr>
        <p:spPr>
          <a:xfrm>
            <a:off x="660400" y="1988647"/>
            <a:ext cx="2921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100" b="1">
                <a:solidFill>
                  <a:srgbClr val="626C74"/>
                </a:solidFill>
                <a:latin typeface="Aptos" panose="020B0004020202020204" pitchFamily="34" charset="0"/>
              </a:rPr>
              <a:t>CHAT TOKENS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80A3CE-F65E-3D43-309E-9949F5BBC546}"/>
              </a:ext>
            </a:extLst>
          </p:cNvPr>
          <p:cNvSpPr txBox="1"/>
          <p:nvPr/>
        </p:nvSpPr>
        <p:spPr>
          <a:xfrm>
            <a:off x="660400" y="2306147"/>
            <a:ext cx="76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100" b="1">
                <a:solidFill>
                  <a:srgbClr val="31657C"/>
                </a:solidFill>
                <a:latin typeface="Aptos" panose="020B0004020202020204" pitchFamily="34" charset="0"/>
              </a:rPr>
              <a:t>Direct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8C9171-A2D1-1E79-8DCE-3CB33A7E2E45}"/>
              </a:ext>
            </a:extLst>
          </p:cNvPr>
          <p:cNvSpPr/>
          <p:nvPr/>
        </p:nvSpPr>
        <p:spPr>
          <a:xfrm>
            <a:off x="1485900" y="2336800"/>
            <a:ext cx="1677511" cy="215900"/>
          </a:xfrm>
          <a:prstGeom prst="roundRect">
            <a:avLst/>
          </a:prstGeom>
          <a:solidFill>
            <a:srgbClr val="3165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DFB29-DEFD-972E-F3B1-44047B2DE65F}"/>
              </a:ext>
            </a:extLst>
          </p:cNvPr>
          <p:cNvSpPr txBox="1"/>
          <p:nvPr/>
        </p:nvSpPr>
        <p:spPr>
          <a:xfrm>
            <a:off x="4953000" y="2280747"/>
            <a:ext cx="6604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100" b="1">
                <a:solidFill>
                  <a:srgbClr val="31657C"/>
                </a:solidFill>
                <a:latin typeface="Aptos" panose="020B0004020202020204" pitchFamily="34" charset="0"/>
              </a:rPr>
              <a:t>1,761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D84A2-15E2-A4F9-72A3-5AE08CAD1AC2}"/>
              </a:ext>
            </a:extLst>
          </p:cNvPr>
          <p:cNvSpPr txBox="1"/>
          <p:nvPr/>
        </p:nvSpPr>
        <p:spPr>
          <a:xfrm>
            <a:off x="660400" y="2649047"/>
            <a:ext cx="76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100" b="1">
                <a:solidFill>
                  <a:srgbClr val="A91E37"/>
                </a:solidFill>
                <a:latin typeface="Aptos" panose="020B0004020202020204" pitchFamily="34" charset="0"/>
              </a:rPr>
              <a:t>Agent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F006C5-D51B-3347-974D-0E7E2D15EA8B}"/>
              </a:ext>
            </a:extLst>
          </p:cNvPr>
          <p:cNvSpPr/>
          <p:nvPr/>
        </p:nvSpPr>
        <p:spPr>
          <a:xfrm>
            <a:off x="1485900" y="2679700"/>
            <a:ext cx="3365500" cy="215900"/>
          </a:xfrm>
          <a:prstGeom prst="round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026793-ED95-86B0-EC7C-4AFDCF2DB541}"/>
              </a:ext>
            </a:extLst>
          </p:cNvPr>
          <p:cNvSpPr txBox="1"/>
          <p:nvPr/>
        </p:nvSpPr>
        <p:spPr>
          <a:xfrm>
            <a:off x="4953000" y="2623647"/>
            <a:ext cx="6604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100" b="1">
                <a:solidFill>
                  <a:srgbClr val="A91E37"/>
                </a:solidFill>
                <a:latin typeface="Aptos" panose="020B0004020202020204" pitchFamily="34" charset="0"/>
              </a:rPr>
              <a:t>3,533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8DC3F1-90B2-1225-8B5D-CDD5529D29C0}"/>
              </a:ext>
            </a:extLst>
          </p:cNvPr>
          <p:cNvSpPr txBox="1"/>
          <p:nvPr/>
        </p:nvSpPr>
        <p:spPr>
          <a:xfrm>
            <a:off x="660400" y="3144347"/>
            <a:ext cx="2921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100" b="1">
                <a:solidFill>
                  <a:srgbClr val="626C74"/>
                </a:solidFill>
                <a:latin typeface="Aptos" panose="020B0004020202020204" pitchFamily="34" charset="0"/>
              </a:rPr>
              <a:t>LATENCY (SECONDS)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FA896A-3F7C-D956-6A5D-9E61996CD490}"/>
              </a:ext>
            </a:extLst>
          </p:cNvPr>
          <p:cNvSpPr txBox="1"/>
          <p:nvPr/>
        </p:nvSpPr>
        <p:spPr>
          <a:xfrm>
            <a:off x="660400" y="3461847"/>
            <a:ext cx="76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100" b="1">
                <a:solidFill>
                  <a:srgbClr val="31657C"/>
                </a:solidFill>
                <a:latin typeface="Aptos" panose="020B0004020202020204" pitchFamily="34" charset="0"/>
              </a:rPr>
              <a:t>Direct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5496EA-01D6-75DF-15DD-845EFFC3A39B}"/>
              </a:ext>
            </a:extLst>
          </p:cNvPr>
          <p:cNvSpPr/>
          <p:nvPr/>
        </p:nvSpPr>
        <p:spPr>
          <a:xfrm>
            <a:off x="1485900" y="3492500"/>
            <a:ext cx="1947990" cy="215900"/>
          </a:xfrm>
          <a:prstGeom prst="roundRect">
            <a:avLst/>
          </a:prstGeom>
          <a:solidFill>
            <a:srgbClr val="3165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A10F1F-5CC9-335B-768A-8246C0284B93}"/>
              </a:ext>
            </a:extLst>
          </p:cNvPr>
          <p:cNvSpPr txBox="1"/>
          <p:nvPr/>
        </p:nvSpPr>
        <p:spPr>
          <a:xfrm>
            <a:off x="4953000" y="3436447"/>
            <a:ext cx="6604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100" b="1">
                <a:solidFill>
                  <a:srgbClr val="31657C"/>
                </a:solidFill>
                <a:latin typeface="Aptos" panose="020B0004020202020204" pitchFamily="34" charset="0"/>
              </a:rPr>
              <a:t>2.24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F51D12-9833-114E-F44A-0C80183BCE54}"/>
              </a:ext>
            </a:extLst>
          </p:cNvPr>
          <p:cNvSpPr txBox="1"/>
          <p:nvPr/>
        </p:nvSpPr>
        <p:spPr>
          <a:xfrm>
            <a:off x="660400" y="3804747"/>
            <a:ext cx="76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100" b="1">
                <a:solidFill>
                  <a:srgbClr val="A91E37"/>
                </a:solidFill>
                <a:latin typeface="Aptos" panose="020B0004020202020204" pitchFamily="34" charset="0"/>
              </a:rPr>
              <a:t>Agent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D48B2F-4841-C7F9-8750-ED61CDD38572}"/>
              </a:ext>
            </a:extLst>
          </p:cNvPr>
          <p:cNvSpPr/>
          <p:nvPr/>
        </p:nvSpPr>
        <p:spPr>
          <a:xfrm>
            <a:off x="1485900" y="3835400"/>
            <a:ext cx="3365500" cy="215900"/>
          </a:xfrm>
          <a:prstGeom prst="round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5E0D31-A552-B6A1-03C4-34600CE6CAEC}"/>
              </a:ext>
            </a:extLst>
          </p:cNvPr>
          <p:cNvSpPr txBox="1"/>
          <p:nvPr/>
        </p:nvSpPr>
        <p:spPr>
          <a:xfrm>
            <a:off x="4953000" y="3779347"/>
            <a:ext cx="6604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100" b="1">
                <a:solidFill>
                  <a:srgbClr val="A91E37"/>
                </a:solidFill>
                <a:latin typeface="Aptos" panose="020B0004020202020204" pitchFamily="34" charset="0"/>
              </a:rPr>
              <a:t>3.87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881C5E-2C84-5A41-B48C-9C6464738103}"/>
              </a:ext>
            </a:extLst>
          </p:cNvPr>
          <p:cNvSpPr txBox="1"/>
          <p:nvPr/>
        </p:nvSpPr>
        <p:spPr>
          <a:xfrm>
            <a:off x="660400" y="4300047"/>
            <a:ext cx="2921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100" b="1">
                <a:solidFill>
                  <a:srgbClr val="626C74"/>
                </a:solidFill>
                <a:latin typeface="Aptos" panose="020B0004020202020204" pitchFamily="34" charset="0"/>
              </a:rPr>
              <a:t>MODEL CALLS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D31F15-D6A2-2FBE-89B1-561B65148603}"/>
              </a:ext>
            </a:extLst>
          </p:cNvPr>
          <p:cNvSpPr txBox="1"/>
          <p:nvPr/>
        </p:nvSpPr>
        <p:spPr>
          <a:xfrm>
            <a:off x="660400" y="4617547"/>
            <a:ext cx="76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100" b="1">
                <a:solidFill>
                  <a:srgbClr val="31657C"/>
                </a:solidFill>
                <a:latin typeface="Aptos" panose="020B0004020202020204" pitchFamily="34" charset="0"/>
              </a:rPr>
              <a:t>Direct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13A7B0E-F613-AA66-E474-3081D8166912}"/>
              </a:ext>
            </a:extLst>
          </p:cNvPr>
          <p:cNvSpPr/>
          <p:nvPr/>
        </p:nvSpPr>
        <p:spPr>
          <a:xfrm>
            <a:off x="1485900" y="4648200"/>
            <a:ext cx="1121833" cy="215900"/>
          </a:xfrm>
          <a:prstGeom prst="roundRect">
            <a:avLst/>
          </a:prstGeom>
          <a:solidFill>
            <a:srgbClr val="3165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76F485-E9C2-4EA2-8BD5-1D6C8D7A243F}"/>
              </a:ext>
            </a:extLst>
          </p:cNvPr>
          <p:cNvSpPr txBox="1"/>
          <p:nvPr/>
        </p:nvSpPr>
        <p:spPr>
          <a:xfrm>
            <a:off x="4953000" y="4592147"/>
            <a:ext cx="6604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100" b="1">
                <a:solidFill>
                  <a:srgbClr val="31657C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EF8E58-AA3B-01A9-9101-E5372C34766D}"/>
              </a:ext>
            </a:extLst>
          </p:cNvPr>
          <p:cNvSpPr txBox="1"/>
          <p:nvPr/>
        </p:nvSpPr>
        <p:spPr>
          <a:xfrm>
            <a:off x="660400" y="4960447"/>
            <a:ext cx="76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100" b="1">
                <a:solidFill>
                  <a:srgbClr val="A91E37"/>
                </a:solidFill>
                <a:latin typeface="Aptos" panose="020B0004020202020204" pitchFamily="34" charset="0"/>
              </a:rPr>
              <a:t>Agent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3A18508-3A90-1AEB-A2F1-51594FE53CA5}"/>
              </a:ext>
            </a:extLst>
          </p:cNvPr>
          <p:cNvSpPr/>
          <p:nvPr/>
        </p:nvSpPr>
        <p:spPr>
          <a:xfrm>
            <a:off x="1485900" y="4991100"/>
            <a:ext cx="3365500" cy="215900"/>
          </a:xfrm>
          <a:prstGeom prst="round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437ACC-3629-1543-AA34-E0CAE6A4A40A}"/>
              </a:ext>
            </a:extLst>
          </p:cNvPr>
          <p:cNvSpPr txBox="1"/>
          <p:nvPr/>
        </p:nvSpPr>
        <p:spPr>
          <a:xfrm>
            <a:off x="4953000" y="4935047"/>
            <a:ext cx="6604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100" b="1">
                <a:solidFill>
                  <a:srgbClr val="A91E37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D18454D-6EBC-1DB7-B4F3-0C7A22D08777}"/>
              </a:ext>
            </a:extLst>
          </p:cNvPr>
          <p:cNvSpPr/>
          <p:nvPr/>
        </p:nvSpPr>
        <p:spPr>
          <a:xfrm>
            <a:off x="635000" y="5791200"/>
            <a:ext cx="4953000" cy="381000"/>
          </a:xfrm>
          <a:prstGeom prst="roundRect">
            <a:avLst/>
          </a:prstGeom>
          <a:solidFill>
            <a:srgbClr val="308F5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~50% FEWER CHAT TOKENS  |  ~42% LOWER LATENCY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880FEEA-331A-5176-084D-0F7DDD6D610E}"/>
              </a:ext>
            </a:extLst>
          </p:cNvPr>
          <p:cNvSpPr/>
          <p:nvPr/>
        </p:nvSpPr>
        <p:spPr>
          <a:xfrm>
            <a:off x="6159500" y="1333500"/>
            <a:ext cx="5422900" cy="4343400"/>
          </a:xfrm>
          <a:prstGeom prst="roundRect">
            <a:avLst/>
          </a:prstGeom>
          <a:solidFill>
            <a:srgbClr val="2A3E4A"/>
          </a:solidFill>
          <a:ln w="15240">
            <a:solidFill>
              <a:srgbClr val="2A3E4A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F410D2D-E173-BC7C-42AE-0EA56FAFCCE5}"/>
              </a:ext>
            </a:extLst>
          </p:cNvPr>
          <p:cNvSpPr/>
          <p:nvPr/>
        </p:nvSpPr>
        <p:spPr>
          <a:xfrm>
            <a:off x="6413500" y="1549400"/>
            <a:ext cx="1206500" cy="292100"/>
          </a:xfrm>
          <a:prstGeom prst="roundRect">
            <a:avLst/>
          </a:prstGeom>
          <a:solidFill>
            <a:srgbClr val="28878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OUTPUT EXAMPLE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82294D-818D-2317-5DE8-DDA93C901027}"/>
              </a:ext>
            </a:extLst>
          </p:cNvPr>
          <p:cNvSpPr txBox="1"/>
          <p:nvPr/>
        </p:nvSpPr>
        <p:spPr>
          <a:xfrm>
            <a:off x="6426200" y="1975947"/>
            <a:ext cx="4826000" cy="420628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Cross-paper comparison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7CB66D-F41F-3E99-2D98-F2EEC54BD7D4}"/>
              </a:ext>
            </a:extLst>
          </p:cNvPr>
          <p:cNvSpPr txBox="1"/>
          <p:nvPr/>
        </p:nvSpPr>
        <p:spPr>
          <a:xfrm>
            <a:off x="6426200" y="2522046"/>
            <a:ext cx="11430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000" b="1">
                <a:solidFill>
                  <a:srgbClr val="B4BBC0"/>
                </a:solidFill>
                <a:latin typeface="Aptos" panose="020B0004020202020204" pitchFamily="34" charset="0"/>
              </a:rPr>
              <a:t>QUESTION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6A910F-A42C-3A1B-E08A-17C28DC934E5}"/>
              </a:ext>
            </a:extLst>
          </p:cNvPr>
          <p:cNvSpPr txBox="1"/>
          <p:nvPr/>
        </p:nvSpPr>
        <p:spPr>
          <a:xfrm>
            <a:off x="6426200" y="2801447"/>
            <a:ext cx="47879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How are program sketches produced in the two papers?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559EDE-6D2D-2388-E7EA-E68ECAB1BF63}"/>
              </a:ext>
            </a:extLst>
          </p:cNvPr>
          <p:cNvSpPr txBox="1"/>
          <p:nvPr/>
        </p:nvSpPr>
        <p:spPr>
          <a:xfrm>
            <a:off x="6426200" y="3550746"/>
            <a:ext cx="11430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000" b="1">
                <a:solidFill>
                  <a:srgbClr val="B4BBC0"/>
                </a:solidFill>
                <a:latin typeface="Aptos" panose="020B0004020202020204" pitchFamily="34" charset="0"/>
              </a:rPr>
              <a:t>ROUTE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0BE2C0F-28AD-3510-1337-58E0B3EB3E75}"/>
              </a:ext>
            </a:extLst>
          </p:cNvPr>
          <p:cNvSpPr/>
          <p:nvPr/>
        </p:nvSpPr>
        <p:spPr>
          <a:xfrm>
            <a:off x="7302500" y="3543300"/>
            <a:ext cx="1117600" cy="279400"/>
          </a:xfrm>
          <a:prstGeom prst="round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AGENT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EA17-301E-E32E-88E6-69F84A603F3A}"/>
              </a:ext>
            </a:extLst>
          </p:cNvPr>
          <p:cNvSpPr txBox="1"/>
          <p:nvPr/>
        </p:nvSpPr>
        <p:spPr>
          <a:xfrm>
            <a:off x="6426200" y="4020646"/>
            <a:ext cx="12700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000" b="1">
                <a:solidFill>
                  <a:srgbClr val="B4BBC0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8F203E-6E89-B3C3-A219-09115F073E75}"/>
              </a:ext>
            </a:extLst>
          </p:cNvPr>
          <p:cNvSpPr txBox="1"/>
          <p:nvPr/>
        </p:nvSpPr>
        <p:spPr>
          <a:xfrm>
            <a:off x="6426200" y="4300047"/>
            <a:ext cx="47879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Aptos" panose="020B0004020202020204" pitchFamily="34" charset="0"/>
              </a:rPr>
              <a:t>Solar-Lezama pages 1-2</a:t>
            </a:r>
          </a:p>
          <a:p>
            <a:r>
              <a:rPr lang="fr-FR" sz="1300">
                <a:solidFill>
                  <a:srgbClr val="FFFFFF"/>
                </a:solidFill>
                <a:latin typeface="Aptos" panose="020B0004020202020204" pitchFamily="34" charset="0"/>
              </a:rPr>
              <a:t>Nye paper pages 1-2</a:t>
            </a:r>
            <a:endParaRPr lang="en-US" sz="13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A5BEB5-DB9F-FD59-0D73-1E1F2E7266E3}"/>
              </a:ext>
            </a:extLst>
          </p:cNvPr>
          <p:cNvSpPr txBox="1"/>
          <p:nvPr/>
        </p:nvSpPr>
        <p:spPr>
          <a:xfrm>
            <a:off x="6426200" y="4947746"/>
            <a:ext cx="12700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000" b="1">
                <a:solidFill>
                  <a:srgbClr val="B4BBC0"/>
                </a:solidFill>
                <a:latin typeface="Aptos" panose="020B0004020202020204" pitchFamily="34" charset="0"/>
              </a:rPr>
              <a:t>ANSWER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EC146E-9B31-6722-B8BB-83C3DED6D3C1}"/>
              </a:ext>
            </a:extLst>
          </p:cNvPr>
          <p:cNvSpPr txBox="1"/>
          <p:nvPr/>
        </p:nvSpPr>
        <p:spPr>
          <a:xfrm>
            <a:off x="6426200" y="5189047"/>
            <a:ext cx="4787900" cy="32829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Human-written sketch  vs.  learned sketch generator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8FBB344-F830-EC1A-FC08-61D873181F7D}"/>
              </a:ext>
            </a:extLst>
          </p:cNvPr>
          <p:cNvSpPr/>
          <p:nvPr/>
        </p:nvSpPr>
        <p:spPr>
          <a:xfrm>
            <a:off x="6159500" y="5829300"/>
            <a:ext cx="5422900" cy="444500"/>
          </a:xfrm>
          <a:prstGeom prst="roundRect">
            <a:avLst/>
          </a:prstGeom>
          <a:solidFill>
            <a:srgbClr val="E9F6EF"/>
          </a:solidFill>
          <a:ln w="15240">
            <a:solidFill>
              <a:srgbClr val="308F5D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A26DEE-D668-3C61-5FD4-9D6EF5611ED1}"/>
              </a:ext>
            </a:extLst>
          </p:cNvPr>
          <p:cNvSpPr txBox="1"/>
          <p:nvPr/>
        </p:nvSpPr>
        <p:spPr>
          <a:xfrm>
            <a:off x="6286500" y="5874847"/>
            <a:ext cx="51689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308F5D"/>
                </a:solidFill>
                <a:latin typeface="Aptos" panose="020B0004020202020204" pitchFamily="34" charset="0"/>
              </a:rPr>
              <a:t>Semantic cache: 0 chat calls | 0.24-0.27 s on tested repeats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388E11-970E-567E-936D-D00C783675A4}"/>
              </a:ext>
            </a:extLst>
          </p:cNvPr>
          <p:cNvSpPr txBox="1"/>
          <p:nvPr/>
        </p:nvSpPr>
        <p:spPr>
          <a:xfrm>
            <a:off x="355600" y="6433646"/>
            <a:ext cx="45720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900">
                <a:solidFill>
                  <a:srgbClr val="626C74"/>
                </a:solidFill>
                <a:latin typeface="Aptos" panose="020B0004020202020204" pitchFamily="34" charset="0"/>
              </a:rPr>
              <a:t>RESEARCH PAPER NAVIGATOR  |  VIGNESH MANDALAPA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5343BF-CD49-DD31-CF87-7CAC97D579F1}"/>
              </a:ext>
            </a:extLst>
          </p:cNvPr>
          <p:cNvSpPr txBox="1"/>
          <p:nvPr/>
        </p:nvSpPr>
        <p:spPr>
          <a:xfrm>
            <a:off x="11430000" y="6420946"/>
            <a:ext cx="3556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000" b="1">
                <a:solidFill>
                  <a:srgbClr val="626C74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8715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92D5CD-CEED-CAF9-8E1C-650675A313C3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2347A0-5BDA-1567-1CE8-0F8DB163ADD9}"/>
              </a:ext>
            </a:extLst>
          </p:cNvPr>
          <p:cNvSpPr/>
          <p:nvPr/>
        </p:nvSpPr>
        <p:spPr>
          <a:xfrm>
            <a:off x="482600" y="1054100"/>
            <a:ext cx="11226800" cy="38100"/>
          </a:xfrm>
          <a:prstGeom prst="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57BE4A-19AD-22D5-EB5A-83BB8B6F57B1}"/>
              </a:ext>
            </a:extLst>
          </p:cNvPr>
          <p:cNvSpPr/>
          <p:nvPr/>
        </p:nvSpPr>
        <p:spPr>
          <a:xfrm>
            <a:off x="609600" y="1371600"/>
            <a:ext cx="5334000" cy="1549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657C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50E555-4DDE-5E21-DA12-73FC70F4C3A5}"/>
              </a:ext>
            </a:extLst>
          </p:cNvPr>
          <p:cNvSpPr/>
          <p:nvPr/>
        </p:nvSpPr>
        <p:spPr>
          <a:xfrm>
            <a:off x="838200" y="1600200"/>
            <a:ext cx="508000" cy="508000"/>
          </a:xfrm>
          <a:prstGeom prst="ellipse">
            <a:avLst/>
          </a:prstGeom>
          <a:solidFill>
            <a:srgbClr val="3165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9AAAF-8CD8-C542-69AE-9D70350DA379}"/>
              </a:ext>
            </a:extLst>
          </p:cNvPr>
          <p:cNvSpPr txBox="1"/>
          <p:nvPr/>
        </p:nvSpPr>
        <p:spPr>
          <a:xfrm>
            <a:off x="1524000" y="1531447"/>
            <a:ext cx="4064000" cy="40523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800" b="1">
                <a:solidFill>
                  <a:srgbClr val="2A3E4A"/>
                </a:solidFill>
                <a:latin typeface="Aptos" panose="020B0004020202020204" pitchFamily="34" charset="0"/>
              </a:rPr>
              <a:t>Page-level metadata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0BA51E-9C2C-8507-1BF0-E2C0A75D6A5E}"/>
              </a:ext>
            </a:extLst>
          </p:cNvPr>
          <p:cNvSpPr txBox="1"/>
          <p:nvPr/>
        </p:nvSpPr>
        <p:spPr>
          <a:xfrm>
            <a:off x="1524000" y="1963247"/>
            <a:ext cx="4064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626C74"/>
                </a:solidFill>
                <a:latin typeface="Aptos" panose="020B0004020202020204" pitchFamily="34" charset="0"/>
              </a:rPr>
              <a:t>Lets users verify a specific passage instead of searching an entire paper.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913F69-E75A-768A-B0C5-09FEB1E1489E}"/>
              </a:ext>
            </a:extLst>
          </p:cNvPr>
          <p:cNvSpPr/>
          <p:nvPr/>
        </p:nvSpPr>
        <p:spPr>
          <a:xfrm>
            <a:off x="6248400" y="1371600"/>
            <a:ext cx="5334000" cy="1549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8789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6C3A98-3C27-8DC2-ADC6-DD244A7553E3}"/>
              </a:ext>
            </a:extLst>
          </p:cNvPr>
          <p:cNvSpPr/>
          <p:nvPr/>
        </p:nvSpPr>
        <p:spPr>
          <a:xfrm>
            <a:off x="6477000" y="1600200"/>
            <a:ext cx="508000" cy="508000"/>
          </a:xfrm>
          <a:prstGeom prst="ellipse">
            <a:avLst/>
          </a:prstGeom>
          <a:solidFill>
            <a:srgbClr val="28878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72BDD2-EEEE-B305-DECA-ECFC2A5AD2C2}"/>
              </a:ext>
            </a:extLst>
          </p:cNvPr>
          <p:cNvSpPr txBox="1"/>
          <p:nvPr/>
        </p:nvSpPr>
        <p:spPr>
          <a:xfrm>
            <a:off x="7162800" y="1531447"/>
            <a:ext cx="4064000" cy="40523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800" b="1">
                <a:solidFill>
                  <a:srgbClr val="2A3E4A"/>
                </a:solidFill>
                <a:latin typeface="Aptos" panose="020B0004020202020204" pitchFamily="34" charset="0"/>
              </a:rPr>
              <a:t>Hybrid retrieval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7BC25-D053-44AA-2F70-9419FF1564FD}"/>
              </a:ext>
            </a:extLst>
          </p:cNvPr>
          <p:cNvSpPr txBox="1"/>
          <p:nvPr/>
        </p:nvSpPr>
        <p:spPr>
          <a:xfrm>
            <a:off x="7162800" y="1963247"/>
            <a:ext cx="4064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626C74"/>
                </a:solidFill>
                <a:latin typeface="Aptos" panose="020B0004020202020204" pitchFamily="34" charset="0"/>
              </a:rPr>
              <a:t>BM25 handles exact terms; semantic search supports paraphrases.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538E29-F84A-B35F-D8F3-90A0048DD9C3}"/>
              </a:ext>
            </a:extLst>
          </p:cNvPr>
          <p:cNvSpPr/>
          <p:nvPr/>
        </p:nvSpPr>
        <p:spPr>
          <a:xfrm>
            <a:off x="609600" y="3225800"/>
            <a:ext cx="5334000" cy="1549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91E37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66D7B6-B044-C494-908C-2BC4A77753D2}"/>
              </a:ext>
            </a:extLst>
          </p:cNvPr>
          <p:cNvSpPr/>
          <p:nvPr/>
        </p:nvSpPr>
        <p:spPr>
          <a:xfrm>
            <a:off x="838200" y="3454400"/>
            <a:ext cx="508000" cy="508000"/>
          </a:xfrm>
          <a:prstGeom prst="ellipse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377E4-99E9-16C5-31D6-7B140FDF277F}"/>
              </a:ext>
            </a:extLst>
          </p:cNvPr>
          <p:cNvSpPr txBox="1"/>
          <p:nvPr/>
        </p:nvSpPr>
        <p:spPr>
          <a:xfrm>
            <a:off x="1524000" y="3385647"/>
            <a:ext cx="4064000" cy="40523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800" b="1">
                <a:solidFill>
                  <a:srgbClr val="2A3E4A"/>
                </a:solidFill>
                <a:latin typeface="Aptos" panose="020B0004020202020204" pitchFamily="34" charset="0"/>
              </a:rPr>
              <a:t>Selective agent use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6552A1-83BC-29F2-10B9-1FB73D5E0550}"/>
              </a:ext>
            </a:extLst>
          </p:cNvPr>
          <p:cNvSpPr txBox="1"/>
          <p:nvPr/>
        </p:nvSpPr>
        <p:spPr>
          <a:xfrm>
            <a:off x="1524000" y="3817447"/>
            <a:ext cx="4064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626C74"/>
                </a:solidFill>
                <a:latin typeface="Aptos" panose="020B0004020202020204" pitchFamily="34" charset="0"/>
              </a:rPr>
              <a:t>Complex comparisons get more reasoning; simple questions avoid extra calls.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E65717-A81E-3520-8743-5FB510CA5051}"/>
              </a:ext>
            </a:extLst>
          </p:cNvPr>
          <p:cNvSpPr/>
          <p:nvPr/>
        </p:nvSpPr>
        <p:spPr>
          <a:xfrm>
            <a:off x="6248400" y="3225800"/>
            <a:ext cx="5334000" cy="1549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8F5D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CE30A0-B6E3-FC5B-5826-78288A01A47D}"/>
              </a:ext>
            </a:extLst>
          </p:cNvPr>
          <p:cNvSpPr/>
          <p:nvPr/>
        </p:nvSpPr>
        <p:spPr>
          <a:xfrm>
            <a:off x="6477000" y="3454400"/>
            <a:ext cx="508000" cy="508000"/>
          </a:xfrm>
          <a:prstGeom prst="ellipse">
            <a:avLst/>
          </a:prstGeom>
          <a:solidFill>
            <a:srgbClr val="308F5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A2E211-9450-63D9-21C9-22D05FDDD391}"/>
              </a:ext>
            </a:extLst>
          </p:cNvPr>
          <p:cNvSpPr txBox="1"/>
          <p:nvPr/>
        </p:nvSpPr>
        <p:spPr>
          <a:xfrm>
            <a:off x="7162800" y="3385647"/>
            <a:ext cx="4064000" cy="40523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800" b="1">
                <a:solidFill>
                  <a:srgbClr val="2A3E4A"/>
                </a:solidFill>
                <a:latin typeface="Aptos" panose="020B0004020202020204" pitchFamily="34" charset="0"/>
              </a:rPr>
              <a:t>Strict cache + safeguards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3E02FF-CBF3-3878-0640-311953C58057}"/>
              </a:ext>
            </a:extLst>
          </p:cNvPr>
          <p:cNvSpPr txBox="1"/>
          <p:nvPr/>
        </p:nvSpPr>
        <p:spPr>
          <a:xfrm>
            <a:off x="7162800" y="3817447"/>
            <a:ext cx="4064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626C74"/>
                </a:solidFill>
                <a:latin typeface="Aptos" panose="020B0004020202020204" pitchFamily="34" charset="0"/>
              </a:rPr>
              <a:t>0.85 threshold, corpus versioning, sanitization, and XML separation.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C2E1DE-0A7B-62DD-14F4-0DFE6F3B371A}"/>
              </a:ext>
            </a:extLst>
          </p:cNvPr>
          <p:cNvSpPr/>
          <p:nvPr/>
        </p:nvSpPr>
        <p:spPr>
          <a:xfrm>
            <a:off x="609600" y="5207000"/>
            <a:ext cx="10972800" cy="965200"/>
          </a:xfrm>
          <a:prstGeom prst="roundRect">
            <a:avLst/>
          </a:prstGeom>
          <a:solidFill>
            <a:srgbClr val="F1F3F5"/>
          </a:solidFill>
          <a:ln w="15240">
            <a:solidFill>
              <a:srgbClr val="B4BBC0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2CAA74-8E12-1960-04D8-12131C3F6163}"/>
              </a:ext>
            </a:extLst>
          </p:cNvPr>
          <p:cNvSpPr txBox="1"/>
          <p:nvPr/>
        </p:nvSpPr>
        <p:spPr>
          <a:xfrm>
            <a:off x="838200" y="5316047"/>
            <a:ext cx="2540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100" b="1">
                <a:solidFill>
                  <a:srgbClr val="626C74"/>
                </a:solidFill>
                <a:latin typeface="Aptos" panose="020B0004020202020204" pitchFamily="34" charset="0"/>
              </a:rPr>
              <a:t>PRIMARY TRADE-OFF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729A8-E16C-1F10-9157-8A5B14AFC3FF}"/>
              </a:ext>
            </a:extLst>
          </p:cNvPr>
          <p:cNvSpPr txBox="1"/>
          <p:nvPr/>
        </p:nvSpPr>
        <p:spPr>
          <a:xfrm>
            <a:off x="838200" y="5632058"/>
            <a:ext cx="31115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b="1">
                <a:solidFill>
                  <a:srgbClr val="31657C"/>
                </a:solidFill>
                <a:latin typeface="Aptos" panose="020B0004020202020204" pitchFamily="34" charset="0"/>
              </a:rPr>
              <a:t>Speed + lower cost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73C998-E13F-CD3C-38FD-130E804956A5}"/>
              </a:ext>
            </a:extLst>
          </p:cNvPr>
          <p:cNvSpPr txBox="1"/>
          <p:nvPr/>
        </p:nvSpPr>
        <p:spPr>
          <a:xfrm>
            <a:off x="8890000" y="5632058"/>
            <a:ext cx="24130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b="1">
                <a:solidFill>
                  <a:srgbClr val="308F5D"/>
                </a:solidFill>
                <a:latin typeface="Aptos" panose="020B0004020202020204" pitchFamily="34" charset="0"/>
              </a:rPr>
              <a:t>Grounding + reliability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423FCB-4E4D-DF9A-67D1-68D6BC5A60EA}"/>
              </a:ext>
            </a:extLst>
          </p:cNvPr>
          <p:cNvCxnSpPr/>
          <p:nvPr/>
        </p:nvCxnSpPr>
        <p:spPr>
          <a:xfrm>
            <a:off x="3619500" y="5791200"/>
            <a:ext cx="5092700" cy="0"/>
          </a:xfrm>
          <a:prstGeom prst="line">
            <a:avLst/>
          </a:prstGeom>
          <a:ln w="88900">
            <a:solidFill>
              <a:srgbClr val="B4BB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44E41DB-69D0-1ACD-E3DD-5CFB498653A5}"/>
              </a:ext>
            </a:extLst>
          </p:cNvPr>
          <p:cNvSpPr/>
          <p:nvPr/>
        </p:nvSpPr>
        <p:spPr>
          <a:xfrm>
            <a:off x="7493000" y="5626100"/>
            <a:ext cx="330200" cy="330200"/>
          </a:xfrm>
          <a:prstGeom prst="ellipse">
            <a:avLst/>
          </a:prstGeom>
          <a:solidFill>
            <a:srgbClr val="308F5D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5DF075-C6B7-B784-1AF5-3D9C3D9A5F48}"/>
              </a:ext>
            </a:extLst>
          </p:cNvPr>
          <p:cNvSpPr txBox="1"/>
          <p:nvPr/>
        </p:nvSpPr>
        <p:spPr>
          <a:xfrm>
            <a:off x="4279900" y="5316047"/>
            <a:ext cx="40132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200" b="1">
                <a:solidFill>
                  <a:srgbClr val="252B30"/>
                </a:solidFill>
                <a:latin typeface="Aptos" panose="020B0004020202020204" pitchFamily="34" charset="0"/>
              </a:rPr>
              <a:t>Final design intentionally favors verifiable evidence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324F8B-EA90-49D5-1E07-EA3914016AF6}"/>
              </a:ext>
            </a:extLst>
          </p:cNvPr>
          <p:cNvSpPr txBox="1"/>
          <p:nvPr/>
        </p:nvSpPr>
        <p:spPr>
          <a:xfrm>
            <a:off x="355600" y="6433646"/>
            <a:ext cx="45720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900">
                <a:solidFill>
                  <a:srgbClr val="626C74"/>
                </a:solidFill>
                <a:latin typeface="Aptos" panose="020B0004020202020204" pitchFamily="34" charset="0"/>
              </a:rPr>
              <a:t>RESEARCH PAPER NAVIGATOR  |  VIGNESH MANDALAPA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B5E306-5C0F-2645-C3E1-37544FA29254}"/>
              </a:ext>
            </a:extLst>
          </p:cNvPr>
          <p:cNvSpPr txBox="1"/>
          <p:nvPr/>
        </p:nvSpPr>
        <p:spPr>
          <a:xfrm>
            <a:off x="11430000" y="6420946"/>
            <a:ext cx="3556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000" b="1">
                <a:solidFill>
                  <a:srgbClr val="626C74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8490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and Future Improvements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AAD3D5-FEB1-BA7C-273B-1717CCA8003F}"/>
              </a:ext>
            </a:extLst>
          </p:cNvPr>
          <p:cNvSpPr/>
          <p:nvPr/>
        </p:nvSpPr>
        <p:spPr>
          <a:xfrm>
            <a:off x="482600" y="1054100"/>
            <a:ext cx="11226800" cy="38100"/>
          </a:xfrm>
          <a:prstGeom prst="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0A3922-524E-F74A-B65C-E1CA8056DF6C}"/>
              </a:ext>
            </a:extLst>
          </p:cNvPr>
          <p:cNvSpPr/>
          <p:nvPr/>
        </p:nvSpPr>
        <p:spPr>
          <a:xfrm>
            <a:off x="571500" y="1371600"/>
            <a:ext cx="5334000" cy="2413000"/>
          </a:xfrm>
          <a:prstGeom prst="roundRect">
            <a:avLst/>
          </a:prstGeom>
          <a:solidFill>
            <a:srgbClr val="FAECF0"/>
          </a:solidFill>
          <a:ln w="15240">
            <a:solidFill>
              <a:srgbClr val="A91E37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EFF5AB-BB01-7A8F-DAC6-2230F9470A11}"/>
              </a:ext>
            </a:extLst>
          </p:cNvPr>
          <p:cNvSpPr/>
          <p:nvPr/>
        </p:nvSpPr>
        <p:spPr>
          <a:xfrm>
            <a:off x="812800" y="1574800"/>
            <a:ext cx="1841500" cy="304800"/>
          </a:xfrm>
          <a:prstGeom prst="round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CURRENT LIMITATIONS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D1A03-A92A-37DD-C4F4-78CDE2236987}"/>
              </a:ext>
            </a:extLst>
          </p:cNvPr>
          <p:cNvSpPr txBox="1"/>
          <p:nvPr/>
        </p:nvSpPr>
        <p:spPr>
          <a:xfrm>
            <a:off x="825500" y="1988647"/>
            <a:ext cx="4762500" cy="1128514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- A page ID may not support the exact claim.</a:t>
            </a:r>
          </a:p>
          <a:p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- Terminology differences can reduce recall.</a:t>
            </a:r>
          </a:p>
          <a:p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- Sanitization cannot catch every new attack.</a:t>
            </a:r>
          </a:p>
          <a:p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- Cache and routing rules can become stale or misclassify.</a:t>
            </a:r>
          </a:p>
          <a:p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- Human-reviewed evaluation remains small.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E5F8BB-67B3-D55A-2E93-7C8E900BFF5E}"/>
              </a:ext>
            </a:extLst>
          </p:cNvPr>
          <p:cNvSpPr/>
          <p:nvPr/>
        </p:nvSpPr>
        <p:spPr>
          <a:xfrm>
            <a:off x="6286500" y="1371600"/>
            <a:ext cx="5334000" cy="2413000"/>
          </a:xfrm>
          <a:prstGeom prst="roundRect">
            <a:avLst/>
          </a:prstGeom>
          <a:solidFill>
            <a:srgbClr val="E9F6EF"/>
          </a:solidFill>
          <a:ln w="15240">
            <a:solidFill>
              <a:srgbClr val="308F5D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332927-154E-5AE8-8A9B-ACB4B3EE2169}"/>
              </a:ext>
            </a:extLst>
          </p:cNvPr>
          <p:cNvSpPr/>
          <p:nvPr/>
        </p:nvSpPr>
        <p:spPr>
          <a:xfrm>
            <a:off x="6527800" y="1574800"/>
            <a:ext cx="1524000" cy="304800"/>
          </a:xfrm>
          <a:prstGeom prst="roundRect">
            <a:avLst/>
          </a:prstGeom>
          <a:solidFill>
            <a:srgbClr val="308F5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NEXT STEPS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8633F-540F-6E28-FDF3-3CF23EDD134A}"/>
              </a:ext>
            </a:extLst>
          </p:cNvPr>
          <p:cNvSpPr txBox="1"/>
          <p:nvPr/>
        </p:nvSpPr>
        <p:spPr>
          <a:xfrm>
            <a:off x="6540500" y="1988647"/>
            <a:ext cx="4762500" cy="1128514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- Claim-to-citation verification.</a:t>
            </a:r>
          </a:p>
          <a:p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- Full-content corpus hashing and cache expiry.</a:t>
            </a:r>
          </a:p>
          <a:p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- Evidence coverage for every named paper.</a:t>
            </a:r>
          </a:p>
          <a:p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- Larger human-reviewed evaluation set.</a:t>
            </a:r>
          </a:p>
          <a:p>
            <a:r>
              <a:rPr lang="en-US" sz="1300">
                <a:solidFill>
                  <a:srgbClr val="252B30"/>
                </a:solidFill>
                <a:latin typeface="Aptos" panose="020B0004020202020204" pitchFamily="34" charset="0"/>
              </a:rPr>
              <a:t>- Interactive comparison and verification interface.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9BC6D-E57E-50A4-13C5-4DA77F616212}"/>
              </a:ext>
            </a:extLst>
          </p:cNvPr>
          <p:cNvSpPr txBox="1"/>
          <p:nvPr/>
        </p:nvSpPr>
        <p:spPr>
          <a:xfrm>
            <a:off x="584200" y="3995247"/>
            <a:ext cx="4572000" cy="38985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700" b="1">
                <a:solidFill>
                  <a:srgbClr val="2A3E4A"/>
                </a:solidFill>
                <a:latin typeface="Aptos" panose="020B0004020202020204" pitchFamily="34" charset="0"/>
              </a:rPr>
              <a:t>Future: interactive evidence comparison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C513B9-9FBF-9191-4238-109766EAF4DB}"/>
              </a:ext>
            </a:extLst>
          </p:cNvPr>
          <p:cNvSpPr/>
          <p:nvPr/>
        </p:nvSpPr>
        <p:spPr>
          <a:xfrm>
            <a:off x="7302500" y="3975100"/>
            <a:ext cx="965200" cy="279400"/>
          </a:xfrm>
          <a:prstGeom prst="roundRect">
            <a:avLst/>
          </a:prstGeom>
          <a:solidFill>
            <a:srgbClr val="3165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Author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CF0545-7180-1E84-B334-679A915D24F7}"/>
              </a:ext>
            </a:extLst>
          </p:cNvPr>
          <p:cNvSpPr/>
          <p:nvPr/>
        </p:nvSpPr>
        <p:spPr>
          <a:xfrm>
            <a:off x="8369300" y="3975100"/>
            <a:ext cx="787400" cy="279400"/>
          </a:xfrm>
          <a:prstGeom prst="roundRect">
            <a:avLst/>
          </a:prstGeom>
          <a:solidFill>
            <a:srgbClr val="28878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Year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E0103C-7E89-80AF-24BC-2DCCCD5C7A12}"/>
              </a:ext>
            </a:extLst>
          </p:cNvPr>
          <p:cNvSpPr/>
          <p:nvPr/>
        </p:nvSpPr>
        <p:spPr>
          <a:xfrm>
            <a:off x="9258300" y="3975100"/>
            <a:ext cx="1600200" cy="279400"/>
          </a:xfrm>
          <a:prstGeom prst="roundRect">
            <a:avLst/>
          </a:prstGeom>
          <a:solidFill>
            <a:srgbClr val="DA9C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252B30"/>
                </a:solidFill>
                <a:latin typeface="Aptos" panose="020B0004020202020204" pitchFamily="34" charset="0"/>
              </a:rPr>
              <a:t>Problem statement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330A59-1B5B-C7F1-BAFD-DDF32D617CC2}"/>
              </a:ext>
            </a:extLst>
          </p:cNvPr>
          <p:cNvSpPr/>
          <p:nvPr/>
        </p:nvSpPr>
        <p:spPr>
          <a:xfrm>
            <a:off x="571500" y="4419600"/>
            <a:ext cx="11049000" cy="1714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3E4A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99F631-BFAF-8A8C-BE65-E2BFF968A234}"/>
              </a:ext>
            </a:extLst>
          </p:cNvPr>
          <p:cNvSpPr/>
          <p:nvPr/>
        </p:nvSpPr>
        <p:spPr>
          <a:xfrm>
            <a:off x="571500" y="4419600"/>
            <a:ext cx="2730500" cy="368300"/>
          </a:xfrm>
          <a:prstGeom prst="rect">
            <a:avLst/>
          </a:prstGeom>
          <a:solidFill>
            <a:srgbClr val="2A3E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PAPER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EC423-EBC9-135B-B835-A90AA89D5596}"/>
              </a:ext>
            </a:extLst>
          </p:cNvPr>
          <p:cNvSpPr/>
          <p:nvPr/>
        </p:nvSpPr>
        <p:spPr>
          <a:xfrm>
            <a:off x="3302000" y="4419600"/>
            <a:ext cx="2476500" cy="368300"/>
          </a:xfrm>
          <a:prstGeom prst="rect">
            <a:avLst/>
          </a:prstGeom>
          <a:solidFill>
            <a:srgbClr val="2A3E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529AE9-12C0-2558-CEC5-E518F3BB1427}"/>
              </a:ext>
            </a:extLst>
          </p:cNvPr>
          <p:cNvSpPr/>
          <p:nvPr/>
        </p:nvSpPr>
        <p:spPr>
          <a:xfrm>
            <a:off x="5778500" y="4419600"/>
            <a:ext cx="3365500" cy="368300"/>
          </a:xfrm>
          <a:prstGeom prst="rect">
            <a:avLst/>
          </a:prstGeom>
          <a:solidFill>
            <a:srgbClr val="2A3E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GENERATED COMPARISON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A38809-FBD0-D9DE-BD2E-19CF26F89C38}"/>
              </a:ext>
            </a:extLst>
          </p:cNvPr>
          <p:cNvSpPr/>
          <p:nvPr/>
        </p:nvSpPr>
        <p:spPr>
          <a:xfrm>
            <a:off x="9144000" y="4419600"/>
            <a:ext cx="2476500" cy="368300"/>
          </a:xfrm>
          <a:prstGeom prst="rect">
            <a:avLst/>
          </a:prstGeom>
          <a:solidFill>
            <a:srgbClr val="2A3E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1D8D42-DB1A-1445-3FF1-8A6C95A7AF0B}"/>
              </a:ext>
            </a:extLst>
          </p:cNvPr>
          <p:cNvSpPr txBox="1"/>
          <p:nvPr/>
        </p:nvSpPr>
        <p:spPr>
          <a:xfrm>
            <a:off x="711200" y="4846147"/>
            <a:ext cx="2413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200" b="1">
                <a:solidFill>
                  <a:srgbClr val="252B30"/>
                </a:solidFill>
                <a:latin typeface="Aptos" panose="020B0004020202020204" pitchFamily="34" charset="0"/>
              </a:rPr>
              <a:t>Sketching Approach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8950BE-13CC-C371-B705-953652E979E8}"/>
              </a:ext>
            </a:extLst>
          </p:cNvPr>
          <p:cNvSpPr txBox="1"/>
          <p:nvPr/>
        </p:nvSpPr>
        <p:spPr>
          <a:xfrm>
            <a:off x="3441700" y="4846147"/>
            <a:ext cx="2159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200">
                <a:solidFill>
                  <a:srgbClr val="252B30"/>
                </a:solidFill>
                <a:latin typeface="Aptos" panose="020B0004020202020204" pitchFamily="34" charset="0"/>
              </a:rPr>
              <a:t>Human-written sketch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1D43D0-425E-379E-47B7-BCB8707FB4E9}"/>
              </a:ext>
            </a:extLst>
          </p:cNvPr>
          <p:cNvSpPr txBox="1"/>
          <p:nvPr/>
        </p:nvSpPr>
        <p:spPr>
          <a:xfrm>
            <a:off x="5930900" y="4846147"/>
            <a:ext cx="30226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200">
                <a:solidFill>
                  <a:srgbClr val="252B30"/>
                </a:solidFill>
                <a:latin typeface="Aptos" panose="020B0004020202020204" pitchFamily="34" charset="0"/>
              </a:rPr>
              <a:t>Programmer supplies structure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72441A-D445-7F3A-63A2-290040C82B6A}"/>
              </a:ext>
            </a:extLst>
          </p:cNvPr>
          <p:cNvSpPr/>
          <p:nvPr/>
        </p:nvSpPr>
        <p:spPr>
          <a:xfrm>
            <a:off x="9537700" y="4902200"/>
            <a:ext cx="1498600" cy="279400"/>
          </a:xfrm>
          <a:prstGeom prst="roundRect">
            <a:avLst/>
          </a:prstGeom>
          <a:solidFill>
            <a:srgbClr val="3165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PDF p. 1-2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0A4207-7022-E1FC-B9D7-24F63BA21E31}"/>
              </a:ext>
            </a:extLst>
          </p:cNvPr>
          <p:cNvCxnSpPr/>
          <p:nvPr/>
        </p:nvCxnSpPr>
        <p:spPr>
          <a:xfrm>
            <a:off x="698500" y="5384800"/>
            <a:ext cx="10731500" cy="0"/>
          </a:xfrm>
          <a:prstGeom prst="line">
            <a:avLst/>
          </a:prstGeom>
          <a:ln w="12700">
            <a:solidFill>
              <a:srgbClr val="B4BB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5AE3DF3-9AAF-D0F1-4491-57633DE33E8D}"/>
              </a:ext>
            </a:extLst>
          </p:cNvPr>
          <p:cNvSpPr txBox="1"/>
          <p:nvPr/>
        </p:nvSpPr>
        <p:spPr>
          <a:xfrm>
            <a:off x="711200" y="5493847"/>
            <a:ext cx="2413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200" b="1">
                <a:solidFill>
                  <a:srgbClr val="252B30"/>
                </a:solidFill>
                <a:latin typeface="Aptos" panose="020B0004020202020204" pitchFamily="34" charset="0"/>
              </a:rPr>
              <a:t>Learning to Infer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2A368C-E1AA-F0A6-2D0E-9CC268E64F6B}"/>
              </a:ext>
            </a:extLst>
          </p:cNvPr>
          <p:cNvSpPr txBox="1"/>
          <p:nvPr/>
        </p:nvSpPr>
        <p:spPr>
          <a:xfrm>
            <a:off x="3441700" y="5493847"/>
            <a:ext cx="2159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200">
                <a:solidFill>
                  <a:srgbClr val="252B30"/>
                </a:solidFill>
                <a:latin typeface="Aptos" panose="020B0004020202020204" pitchFamily="34" charset="0"/>
              </a:rPr>
              <a:t>Learned generator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2FA884-389D-5BC3-E1BF-6BA5C946474F}"/>
              </a:ext>
            </a:extLst>
          </p:cNvPr>
          <p:cNvSpPr txBox="1"/>
          <p:nvPr/>
        </p:nvSpPr>
        <p:spPr>
          <a:xfrm>
            <a:off x="5930900" y="5493847"/>
            <a:ext cx="30226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1200">
                <a:solidFill>
                  <a:srgbClr val="252B30"/>
                </a:solidFill>
                <a:latin typeface="Aptos" panose="020B0004020202020204" pitchFamily="34" charset="0"/>
              </a:rPr>
              <a:t>Model predicts sketch first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FE3258F-06F9-5D22-6FF5-266A0E6CB546}"/>
              </a:ext>
            </a:extLst>
          </p:cNvPr>
          <p:cNvSpPr/>
          <p:nvPr/>
        </p:nvSpPr>
        <p:spPr>
          <a:xfrm>
            <a:off x="9537700" y="5549900"/>
            <a:ext cx="1498600" cy="279400"/>
          </a:xfrm>
          <a:prstGeom prst="roundRect">
            <a:avLst/>
          </a:prstGeom>
          <a:solidFill>
            <a:srgbClr val="28878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PDF p. 1-2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AF789D-4781-561D-DFE9-978AE8B27454}"/>
              </a:ext>
            </a:extLst>
          </p:cNvPr>
          <p:cNvSpPr txBox="1"/>
          <p:nvPr/>
        </p:nvSpPr>
        <p:spPr>
          <a:xfrm>
            <a:off x="355600" y="6433646"/>
            <a:ext cx="45720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900">
                <a:solidFill>
                  <a:srgbClr val="626C74"/>
                </a:solidFill>
                <a:latin typeface="Aptos" panose="020B0004020202020204" pitchFamily="34" charset="0"/>
              </a:rPr>
              <a:t>RESEARCH PAPER NAVIGATOR  |  VIGNESH MANDALAPA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D46916-7D5F-3AF5-FD49-0C8B46B3A2F9}"/>
              </a:ext>
            </a:extLst>
          </p:cNvPr>
          <p:cNvSpPr txBox="1"/>
          <p:nvPr/>
        </p:nvSpPr>
        <p:spPr>
          <a:xfrm>
            <a:off x="11430000" y="6420946"/>
            <a:ext cx="3556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000" b="1">
                <a:solidFill>
                  <a:srgbClr val="626C74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4004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E4D497-87C5-39D6-FAF0-4FE272E0EB7E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 and Feedback</a:t>
            </a:r>
            <a:endParaRPr lang="en-IN" sz="2800" b="1" dirty="0">
              <a:solidFill>
                <a:srgbClr val="A31F3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353623-4ACC-5CBA-AAB7-293F9087E6D6}"/>
              </a:ext>
            </a:extLst>
          </p:cNvPr>
          <p:cNvSpPr/>
          <p:nvPr/>
        </p:nvSpPr>
        <p:spPr>
          <a:xfrm>
            <a:off x="482600" y="1054100"/>
            <a:ext cx="11226800" cy="38100"/>
          </a:xfrm>
          <a:prstGeom prst="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68F52-CB77-A7B6-548A-B6010DBE03D5}"/>
              </a:ext>
            </a:extLst>
          </p:cNvPr>
          <p:cNvSpPr txBox="1"/>
          <p:nvPr/>
        </p:nvSpPr>
        <p:spPr>
          <a:xfrm>
            <a:off x="2286000" y="1442547"/>
            <a:ext cx="76200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3000" b="1">
                <a:solidFill>
                  <a:srgbClr val="2A3E4A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BB544-3C91-E8DC-C6A1-E63F516BA9A8}"/>
              </a:ext>
            </a:extLst>
          </p:cNvPr>
          <p:cNvSpPr txBox="1"/>
          <p:nvPr/>
        </p:nvSpPr>
        <p:spPr>
          <a:xfrm>
            <a:off x="3175000" y="1988647"/>
            <a:ext cx="5842000" cy="40523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800" b="1">
                <a:solidFill>
                  <a:srgbClr val="A91E37"/>
                </a:solidFill>
                <a:latin typeface="Aptos" panose="020B0004020202020204" pitchFamily="34" charset="0"/>
              </a:rPr>
              <a:t>Research Paper Navigator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D25710-8EC8-A7A3-8B3C-462937AF3983}"/>
              </a:ext>
            </a:extLst>
          </p:cNvPr>
          <p:cNvSpPr/>
          <p:nvPr/>
        </p:nvSpPr>
        <p:spPr>
          <a:xfrm>
            <a:off x="965200" y="2984500"/>
            <a:ext cx="3302000" cy="2095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657C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56B8D3-4DA8-DD98-CA92-61A170641C1A}"/>
              </a:ext>
            </a:extLst>
          </p:cNvPr>
          <p:cNvSpPr/>
          <p:nvPr/>
        </p:nvSpPr>
        <p:spPr>
          <a:xfrm>
            <a:off x="2235200" y="3213100"/>
            <a:ext cx="762000" cy="762000"/>
          </a:xfrm>
          <a:prstGeom prst="ellipse">
            <a:avLst/>
          </a:prstGeom>
          <a:solidFill>
            <a:srgbClr val="3165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579216-986E-1E84-33EE-E22EA91993E9}"/>
              </a:ext>
            </a:extLst>
          </p:cNvPr>
          <p:cNvSpPr txBox="1"/>
          <p:nvPr/>
        </p:nvSpPr>
        <p:spPr>
          <a:xfrm>
            <a:off x="1219200" y="4109547"/>
            <a:ext cx="27940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252B30"/>
                </a:solidFill>
                <a:latin typeface="Aptos" panose="020B0004020202020204" pitchFamily="34" charset="0"/>
              </a:rPr>
              <a:t>Is the architecture and retrieval flow clear?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B1B7B6-4B49-7F89-2344-5A24F6EBFA69}"/>
              </a:ext>
            </a:extLst>
          </p:cNvPr>
          <p:cNvSpPr/>
          <p:nvPr/>
        </p:nvSpPr>
        <p:spPr>
          <a:xfrm>
            <a:off x="4445000" y="2984500"/>
            <a:ext cx="3302000" cy="2095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8789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4ED826F-975E-FE3D-9989-CDDC1C749125}"/>
              </a:ext>
            </a:extLst>
          </p:cNvPr>
          <p:cNvSpPr/>
          <p:nvPr/>
        </p:nvSpPr>
        <p:spPr>
          <a:xfrm>
            <a:off x="5715000" y="3213100"/>
            <a:ext cx="762000" cy="762000"/>
          </a:xfrm>
          <a:prstGeom prst="ellipse">
            <a:avLst/>
          </a:prstGeom>
          <a:solidFill>
            <a:srgbClr val="28878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F09DFE-1FA7-C7EC-92DE-BE3BEDD6C702}"/>
              </a:ext>
            </a:extLst>
          </p:cNvPr>
          <p:cNvSpPr txBox="1"/>
          <p:nvPr/>
        </p:nvSpPr>
        <p:spPr>
          <a:xfrm>
            <a:off x="4699000" y="4109547"/>
            <a:ext cx="2794000" cy="589905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252B30"/>
                </a:solidFill>
                <a:latin typeface="Aptos" panose="020B0004020202020204" pitchFamily="34" charset="0"/>
              </a:rPr>
              <a:t>Does the evidence support the engineering decisions?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56C1F35-BA8A-B179-5E60-B88871C697C1}"/>
              </a:ext>
            </a:extLst>
          </p:cNvPr>
          <p:cNvSpPr/>
          <p:nvPr/>
        </p:nvSpPr>
        <p:spPr>
          <a:xfrm>
            <a:off x="7924800" y="2984500"/>
            <a:ext cx="3302000" cy="2095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8F5D"/>
            </a:solidFill>
          </a:ln>
          <a:effectLst>
            <a:outerShdw blurRad="50800" dist="31750" dir="3187807" rotWithShape="0">
              <a:scrgbClr r="0" g="0" b="0">
                <a:alpha val="2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4ADFBBC-7028-20EE-8780-42218AF75ED2}"/>
              </a:ext>
            </a:extLst>
          </p:cNvPr>
          <p:cNvSpPr/>
          <p:nvPr/>
        </p:nvSpPr>
        <p:spPr>
          <a:xfrm>
            <a:off x="9194800" y="3213100"/>
            <a:ext cx="762000" cy="762000"/>
          </a:xfrm>
          <a:prstGeom prst="ellipse">
            <a:avLst/>
          </a:prstGeom>
          <a:solidFill>
            <a:srgbClr val="308F5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3500" rIns="0" bIns="635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D419A-A11A-6631-D9E6-EF138FA3A41C}"/>
              </a:ext>
            </a:extLst>
          </p:cNvPr>
          <p:cNvSpPr txBox="1"/>
          <p:nvPr/>
        </p:nvSpPr>
        <p:spPr>
          <a:xfrm>
            <a:off x="8178800" y="4109546"/>
            <a:ext cx="2794000" cy="820738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252B30"/>
                </a:solidFill>
                <a:latin typeface="Aptos" panose="020B0004020202020204" pitchFamily="34" charset="0"/>
              </a:rPr>
              <a:t>Are the security, quality, latency, and cost trade-offs justified?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165B6D0-DB2E-6C9F-313C-184A4F09101F}"/>
              </a:ext>
            </a:extLst>
          </p:cNvPr>
          <p:cNvSpPr/>
          <p:nvPr/>
        </p:nvSpPr>
        <p:spPr>
          <a:xfrm>
            <a:off x="3594100" y="5562600"/>
            <a:ext cx="5003800" cy="393700"/>
          </a:xfrm>
          <a:prstGeom prst="roundRect">
            <a:avLst/>
          </a:prstGeom>
          <a:solidFill>
            <a:srgbClr val="A91E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GROUND EVERY CLAIM  |  SHOW THE EVIDENCE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5C764-5F5D-C707-1B12-5D8069457652}"/>
              </a:ext>
            </a:extLst>
          </p:cNvPr>
          <p:cNvSpPr txBox="1"/>
          <p:nvPr/>
        </p:nvSpPr>
        <p:spPr>
          <a:xfrm>
            <a:off x="355600" y="6433646"/>
            <a:ext cx="4572000" cy="266740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r>
              <a:rPr lang="en-US" sz="900">
                <a:solidFill>
                  <a:srgbClr val="626C74"/>
                </a:solidFill>
                <a:latin typeface="Aptos" panose="020B0004020202020204" pitchFamily="34" charset="0"/>
              </a:rPr>
              <a:t>RESEARCH PAPER NAVIGATOR  |  VIGNESH MANDALAPA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6087C6-AD1C-AE41-B6B1-9953FDC553CD}"/>
              </a:ext>
            </a:extLst>
          </p:cNvPr>
          <p:cNvSpPr txBox="1"/>
          <p:nvPr/>
        </p:nvSpPr>
        <p:spPr>
          <a:xfrm>
            <a:off x="11430000" y="6420946"/>
            <a:ext cx="355600" cy="282129"/>
          </a:xfrm>
          <a:prstGeom prst="rect">
            <a:avLst/>
          </a:prstGeom>
          <a:noFill/>
        </p:spPr>
        <p:txBody>
          <a:bodyPr vert="horz" wrap="square" lIns="101600" tIns="63500" rIns="101600" bIns="63500" rtlCol="0" anchor="ctr">
            <a:spAutoFit/>
          </a:bodyPr>
          <a:lstStyle/>
          <a:p>
            <a:pPr algn="r"/>
            <a:r>
              <a:rPr lang="en-US" sz="1000" b="1">
                <a:solidFill>
                  <a:srgbClr val="626C74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37486198"/>
      </p:ext>
    </p:extLst>
  </p:cSld>
  <p:clrMapOvr>
    <a:masterClrMapping/>
  </p:clrMapOvr>
</p:sld>
</file>

<file path=ppt/theme/theme1.xml><?xml version="1.0" encoding="utf-8"?>
<a:theme xmlns:a="http://schemas.openxmlformats.org/drawingml/2006/main" name="1_MIT P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Microsoft Office PowerPoint</Application>
  <PresentationFormat>Widescreen</PresentationFormat>
  <Paragraphs>155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1_MIT 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Shilpiya</dc:creator>
  <cp:lastModifiedBy>Vignesh Mandalapa</cp:lastModifiedBy>
  <cp:revision>2</cp:revision>
  <dcterms:created xsi:type="dcterms:W3CDTF">2018-11-05T13:58:18Z</dcterms:created>
  <dcterms:modified xsi:type="dcterms:W3CDTF">2026-10-12T17:35:29Z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0x010100296DC331548237488BA9A87C5C22BBA4</vt:lpwstr>
  </property>
  <property fmtid="{D5CDD505-2E9C-101B-9397-08002B2CF9AE}" pid="3" name="ArticulateGUID">
    <vt:lpwstr>405BEB8A-A8B9-422E-86C1-391F774E521D</vt:lpwstr>
  </property>
  <property fmtid="{D5CDD505-2E9C-101B-9397-08002B2CF9AE}" pid="4" name="ArticulatePath">
    <vt:lpwstr>MIT_xPRO_PPT_Template</vt:lpwstr>
  </property>
</Properties>
</file>